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c254bea65460c" /><Relationship Type="http://schemas.openxmlformats.org/officeDocument/2006/relationships/extended-properties" Target="/docProps/app.xml" Id="R55a00ab77af042f0" /><Relationship Type="http://schemas.openxmlformats.org/officeDocument/2006/relationships/officeDocument" Target="/ppt/presentation.xml" Id="R46f095d71be0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ab11736f4d46d2"/>
  </p:sldMasterIdLst>
  <p:notesMasterIdLst>
    <p:notesMasterId xmlns:r="http://schemas.openxmlformats.org/officeDocument/2006/relationships" r:id="R0f7f4d1aebe94a49"/>
  </p:notesMasterIdLst>
  <p:sldIdLst>
    <p:sldId xmlns:r="http://schemas.openxmlformats.org/officeDocument/2006/relationships" id="256" r:id="R3436da0c8f7c4210"/>
    <p:sldId xmlns:r="http://schemas.openxmlformats.org/officeDocument/2006/relationships" id="257" r:id="R8c5cde789a0b4128"/>
    <p:sldId xmlns:r="http://schemas.openxmlformats.org/officeDocument/2006/relationships" id="258" r:id="R87c447a33073415b"/>
    <p:sldId xmlns:r="http://schemas.openxmlformats.org/officeDocument/2006/relationships" id="259" r:id="R8e2e6fa5399449f5"/>
    <p:sldId xmlns:r="http://schemas.openxmlformats.org/officeDocument/2006/relationships" id="260" r:id="R00ef64537f544d5c"/>
    <p:sldId xmlns:r="http://schemas.openxmlformats.org/officeDocument/2006/relationships" id="261" r:id="R6219128cd1834bc9"/>
    <p:sldId xmlns:r="http://schemas.openxmlformats.org/officeDocument/2006/relationships" id="262" r:id="Rb3f864ec5fea4960"/>
    <p:sldId xmlns:r="http://schemas.openxmlformats.org/officeDocument/2006/relationships" id="263" r:id="R1bc58030dba045df"/>
    <p:sldId xmlns:r="http://schemas.openxmlformats.org/officeDocument/2006/relationships" id="264" r:id="R28fcf7973f3a4a4d"/>
    <p:sldId xmlns:r="http://schemas.openxmlformats.org/officeDocument/2006/relationships" id="265" r:id="R605b511045ce4dc6"/>
    <p:sldId xmlns:r="http://schemas.openxmlformats.org/officeDocument/2006/relationships" id="266" r:id="R7c2e6c38ca394574"/>
    <p:sldId xmlns:r="http://schemas.openxmlformats.org/officeDocument/2006/relationships" id="267" r:id="R7ceca204dede466c"/>
    <p:sldId xmlns:r="http://schemas.openxmlformats.org/officeDocument/2006/relationships" id="268" r:id="Ra0b5da5f86f444d4"/>
    <p:sldId xmlns:r="http://schemas.openxmlformats.org/officeDocument/2006/relationships" id="269" r:id="R0e7e4600da454a5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70db2b7964843" /><Relationship Type="http://schemas.openxmlformats.org/officeDocument/2006/relationships/slideMaster" Target="/ppt/slideMasters/slideMaster1.xml" Id="R4eab11736f4d46d2" /><Relationship Type="http://schemas.openxmlformats.org/officeDocument/2006/relationships/notesMaster" Target="/ppt/notesMasters/notesMaster1.xml" Id="R0f7f4d1aebe94a49" /><Relationship Type="http://schemas.openxmlformats.org/officeDocument/2006/relationships/presProps" Target="/ppt/presProps.xml" Id="R82643192669b4c98" /><Relationship Type="http://schemas.openxmlformats.org/officeDocument/2006/relationships/tableStyles" Target="/ppt/tableStyles.xml" Id="R929313f2718d4e17" /><Relationship Type="http://schemas.openxmlformats.org/officeDocument/2006/relationships/slide" Target="/ppt/slides/slide1.xml" Id="R3436da0c8f7c4210" /><Relationship Type="http://schemas.openxmlformats.org/officeDocument/2006/relationships/slide" Target="/ppt/slides/slide2.xml" Id="R8c5cde789a0b4128" /><Relationship Type="http://schemas.openxmlformats.org/officeDocument/2006/relationships/slide" Target="/ppt/slides/slide3.xml" Id="R87c447a33073415b" /><Relationship Type="http://schemas.openxmlformats.org/officeDocument/2006/relationships/slide" Target="/ppt/slides/slide4.xml" Id="R8e2e6fa5399449f5" /><Relationship Type="http://schemas.openxmlformats.org/officeDocument/2006/relationships/slide" Target="/ppt/slides/slide5.xml" Id="R00ef64537f544d5c" /><Relationship Type="http://schemas.openxmlformats.org/officeDocument/2006/relationships/slide" Target="/ppt/slides/slide6.xml" Id="R6219128cd1834bc9" /><Relationship Type="http://schemas.openxmlformats.org/officeDocument/2006/relationships/slide" Target="/ppt/slides/slide7.xml" Id="Rb3f864ec5fea4960" /><Relationship Type="http://schemas.openxmlformats.org/officeDocument/2006/relationships/slide" Target="/ppt/slides/slide8.xml" Id="R1bc58030dba045df" /><Relationship Type="http://schemas.openxmlformats.org/officeDocument/2006/relationships/slide" Target="/ppt/slides/slide9.xml" Id="R28fcf7973f3a4a4d" /><Relationship Type="http://schemas.openxmlformats.org/officeDocument/2006/relationships/slide" Target="/ppt/slides/slide10.xml" Id="R605b511045ce4dc6" /><Relationship Type="http://schemas.openxmlformats.org/officeDocument/2006/relationships/slide" Target="/ppt/slides/slide11.xml" Id="R7c2e6c38ca394574" /><Relationship Type="http://schemas.openxmlformats.org/officeDocument/2006/relationships/slide" Target="/ppt/slides/slide12.xml" Id="R7ceca204dede466c" /><Relationship Type="http://schemas.openxmlformats.org/officeDocument/2006/relationships/slide" Target="/ppt/slides/slide13.xml" Id="Ra0b5da5f86f444d4" /><Relationship Type="http://schemas.openxmlformats.org/officeDocument/2006/relationships/slide" Target="/ppt/slides/slide14.xml" Id="R0e7e4600da45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204bf3596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33f3c6ad644ed" /><Relationship Type="http://schemas.openxmlformats.org/officeDocument/2006/relationships/notesMaster" Target="/ppt/notesMasters/notesMaster1.xml" Id="R6491d76fd3a6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cbd9fc38794c9c" /><Relationship Type="http://schemas.openxmlformats.org/officeDocument/2006/relationships/notesMaster" Target="/ppt/notesMasters/notesMaster1.xml" Id="R2e4e87d1a6b74a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e65c15c4e44fd" /><Relationship Type="http://schemas.openxmlformats.org/officeDocument/2006/relationships/notesMaster" Target="/ppt/notesMasters/notesMaster1.xml" Id="R88db0aeb3dee4c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866aa46884a81" /><Relationship Type="http://schemas.openxmlformats.org/officeDocument/2006/relationships/notesMaster" Target="/ppt/notesMasters/notesMaster1.xml" Id="Rf2b5077487c2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2118fbd0c34498" /><Relationship Type="http://schemas.openxmlformats.org/officeDocument/2006/relationships/notesMaster" Target="/ppt/notesMasters/notesMaster1.xml" Id="Reb7c5aa84ba945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58a57cd1ff45f2" /><Relationship Type="http://schemas.openxmlformats.org/officeDocument/2006/relationships/notesMaster" Target="/ppt/notesMasters/notesMaster1.xml" Id="R79c4e506ee0240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d787ff3bbf4737" /><Relationship Type="http://schemas.openxmlformats.org/officeDocument/2006/relationships/notesMaster" Target="/ppt/notesMasters/notesMaster1.xml" Id="R6d904c36652246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75689f90e64d7f" /><Relationship Type="http://schemas.openxmlformats.org/officeDocument/2006/relationships/notesMaster" Target="/ppt/notesMasters/notesMaster1.xml" Id="R15dbbd37397d4c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297114a5834d15" /><Relationship Type="http://schemas.openxmlformats.org/officeDocument/2006/relationships/notesMaster" Target="/ppt/notesMasters/notesMaster1.xml" Id="R650877db9ff74e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7de2d730004bc2" /><Relationship Type="http://schemas.openxmlformats.org/officeDocument/2006/relationships/notesMaster" Target="/ppt/notesMasters/notesMaster1.xml" Id="R186960509ddc4e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c4ea53af5b415d" /><Relationship Type="http://schemas.openxmlformats.org/officeDocument/2006/relationships/notesMaster" Target="/ppt/notesMasters/notesMaster1.xml" Id="R1b69aa9a26e947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6fe57eb63849a8" /><Relationship Type="http://schemas.openxmlformats.org/officeDocument/2006/relationships/notesMaster" Target="/ppt/notesMasters/notesMaster1.xml" Id="R713010d1f0744e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75eb11af104873" /><Relationship Type="http://schemas.openxmlformats.org/officeDocument/2006/relationships/notesMaster" Target="/ppt/notesMasters/notesMaster1.xml" Id="R540b76baceb341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129df7548c4663" /><Relationship Type="http://schemas.openxmlformats.org/officeDocument/2006/relationships/notesMaster" Target="/ppt/notesMasters/notesMaster1.xml" Id="Rb6245a3550ff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20 วินาที (รวม 7 นาที)</a:t>
            </a:r>
          </a:p>
          <a:p xmlns:a="http://schemas.openxmlformats.org/drawingml/2006/main">
            <a:r>
              <a:t>เปิดด้วยแนวคิดดูค่าที่จุดใช้งานจริง เชื่อมสองหน้าจอและเก็บย้อนหลัง สมาชิกและบทบาทเว้นให้ผู้ใช้เติม ไม่อ้างว่าตรวจรับครบทุกข้อ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output/map_zoom_20261014/manifest.json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25 วินาที (รวม 7 นาที)</a:t>
            </a:r>
          </a:p>
          <a:p xmlns:a="http://schemas.openxmlformats.org/drawingml/2006/main">
            <a:r>
              <a:t>อธิบายบริบทการใช้ ยังไม่มีผลสำรวจผู้ใช้หรือข้อสรุปทางการแพทย์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25 วินาที (รวม 7 นาที)</a:t>
            </a:r>
          </a:p>
          <a:p xmlns:a="http://schemas.openxmlformats.org/drawingml/2006/main">
            <a:r>
              <a:t>ผู้ใช้ยืนยันว่าผู้สอนยอมรับการปรับอุปกรณ์ ไม่เปลี่ยนหมายเลข FR ให้ผิดจากเอกสาร จอใหญ่มี SD จริงแล้ว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40 วินาที (รวม 7 นาที)</a:t>
            </a:r>
          </a:p>
          <a:p xmlns:a="http://schemas.openxmlformats.org/drawingml/2006/main">
            <a:r>
              <a:t>แยกงานเครือข่ายและทัชเพื่อให้ UI ยังตอบสนอง ออฟไลน์ใช้ journal จำกัดความจุและ replay ไม่อ้างว่าไม่มี blocking เลยทั้งระบบ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src/main.cpp</a:t>
            </a:r>
          </a:p>
          <a:p xmlns:a="http://schemas.openxmlformats.org/drawingml/2006/main">
            <a:r>
              <a:t>include/network_worker.h</a:t>
            </a:r>
          </a:p>
          <a:p xmlns:a="http://schemas.openxmlformats.org/drawingml/2006/main">
            <a:r>
              <a:t>large_display/KU_Hub/touch_sampler.h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35 วินาที (รวม 7 นาที)</a:t>
            </a:r>
          </a:p>
          <a:p xmlns:a="http://schemas.openxmlformats.org/drawingml/2006/main">
            <a:r>
              <a:t>Wi-Fi เชื่อม cloud MQTT ส่วน ESP-NOW เป็นการเชื่อมใกล้กัน ไม่ส่งข้ามอินเทอร์เน็ตแทน MQTT ข้อมูล device เป็น tag เวลา UTC ค่าเซ็นเซอร์ number และ validity เป็นสถานะ sample_id ช่วยจัดการการส่งซ้ำ 1Hz เท่ากับ 86400 ข้อความต่อวัน PUBACK ยืนยันถึง broker ไม่ใช่ถึง DB Topic ปัจจุบันต่างจากรูปแบบใน FR-03 ต้องระบุไว้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include/config.h (เฉพาะ pin map ไม่แนบ credentials)</a:t>
            </a:r>
          </a:p>
          <a:p xmlns:a="http://schemas.openxmlformats.org/drawingml/2006/main">
            <a:r>
              <a:t>integration/node-red</a:t>
            </a:r>
          </a:p>
          <a:p xmlns:a="http://schemas.openxmlformats.org/drawingml/2006/main">
            <a:r>
              <a:t>tools/influx_queue.py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30 วินาที (รวม 7 นาที)</a:t>
            </a:r>
          </a:p>
          <a:p xmlns:a="http://schemas.openxmlformats.org/drawingml/2006/main">
            <a:r>
              <a:t>สมาชิก ราคา และบทบาทเว้นตามผู้ใช้สั่ง ไม่มีชาร์จเจอร์แบตในชุดตามผู้ใช้ INA กระแสยังไม่สอบเทียบ ไม่รับรอง power path หรืออายุแบตจากการทดสอบ USB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40 วินาที (รวม 7 นาที)</a:t>
            </a:r>
          </a:p>
          <a:p xmlns:a="http://schemas.openxmlformats.org/drawingml/2006/main">
            <a:r>
              <a:t>FR-02 ยืนยันโดยผู้ใช้ หน้าหลักและ NETWORK แสดงครบ FR-04 อ้างไฟล์ตรวจรับ 1408 แถว 26 คอลัมน์ RTC ต่าง watch ไม่เกิน2s interval4–6s ไม่มีgap&gt;6sในไฟล์นี้ ไฟล์ถัดมา125แถวมีgapจริงจึงไม่รวมผลผ่านแบบเหมารวม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output/deadline_20261018/sd_acceptance_longer/env_1791956522_e47806b1.csv.audit.json</a:t>
            </a:r>
          </a:p>
          <a:p xmlns:a="http://schemas.openxmlformats.org/drawingml/2006/main">
            <a:r>
              <a:t>output/deadline_20261018/sd_acceptance_longer/excel_open.json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30 วินาที (รวม 7 นาที)</a:t>
            </a:r>
          </a:p>
          <a:p xmlns:a="http://schemas.openxmlformats.org/drawingml/2006/main">
            <a:r>
              <a:t>รุ่นเก่ามีผล outage 10 นาที แต่รุ่นล่าสุดยังต้องทำซ้ำ คิวแฟลชมีขนาดจำกัด768records ไม่รับรอง offline ไม่จำกัดเวลา บทสนทนาผู้ใช้ยืนยันการคงแผนที่และตั้งค่าบางรายการ ส่วนเตือน 3 รอบกับ IAQ3s ต้องยืนยัน latency จริง ไม่ใช้ fixture1Hzแทนเซ็นเซอร์จริง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35 วินาที (รวม 7 นาที)</a:t>
            </a:r>
          </a:p>
          <a:p xmlns:a="http://schemas.openxmlformats.org/drawingml/2006/main">
            <a:r>
              <a:t>ตัวเลขสะสมอ่านจาก status.json ที่หยุด14Oct11:16:30Z credited79937713.6927993ms longest29421707.857400004ms ขอบเขตคือ MQTT reception เท่านั้น ไม่สรุปผ่านNFR-01จากตัวเลขนี้ กราฟqueryไม่ใช่ sensor-to-browser-painted latency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output/accumulated_soak/status.json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25 วินาที (รวม 7 นาที)</a:t>
            </a:r>
          </a:p>
          <a:p xmlns:a="http://schemas.openxmlformats.org/drawingml/2006/main">
            <a:r>
              <a:t>MAP เป็นแผนที่บนอุปกรณ์ ไม่ใช่กราฟ Grafana WALK .kua อยู่ LittleFS และต้องหยุดให้ SAVED ก่อนดึงออกแปลง TCX Hub SD บันทึกเฉพาะรับค่าล่าสุดได้ ไม่มี flash replay ฝั่ง hub เพื่อเติม CSV gap ทุกช่วง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output/map_zoom_20261014/manifest.json</a:t>
            </a:r>
          </a:p>
          <a:p xmlns:a="http://schemas.openxmlformats.org/drawingml/2006/main">
            <a:r>
              <a:t>tools/activity_export.py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45 วินาที (รวม 7 นาที)</a:t>
            </a:r>
          </a:p>
          <a:p xmlns:a="http://schemas.openxmlformats.org/drawingml/2006/main">
            <a:r>
              <a:t>กรอบทั้ง4เป็น placeholder ที่แก้ไขได้ ไม่มีการสร้างคลิปหรือผลผ่านขึ้นเอง ผู้ใช้เพิ่มคลิปด้วย Canva Uploads แล้วลากเข้าหน้า11 จัดในกรอบเดิม อธิบาย 45วินาทีและเลือกเปิดคลิปสั้น ไม่เล่นเต็มทุกคลิปในเวลา7นาที Clip03ไฟล์CSVใหม่125แถวมีgapจริง ต่างจากไฟล์ตรวจรับ1408แถว ต้องบอกตามไฟล์ที่เปิด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output/clip03_csv_25691014T111238Z</a:t>
            </a:r>
          </a:p>
          <a:p xmlns:a="http://schemas.openxmlformats.org/drawingml/2006/main">
            <a:r>
              <a:t>output/deadline_20261018/ทำต่อพรุ่งนี้_15ตุลาคม2569.md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35 วินาที (รวม 7 นาที)</a:t>
            </a:r>
          </a:p>
          <a:p xmlns:a="http://schemas.openxmlformats.org/drawingml/2006/main">
            <a:r>
              <a:t>ภาพGrafanaและInfluxจากmanifest14Oct ไม่แก้ตัวเลขในภาพ ผล896records/896uniqueช่วง15นาทีมีไว้ยืนยันชุดข้อมูลที่ตรวจ ไม่อนุมานทุกช่วงไม่มีข้อมูลขาด ภาพอุณหภูมิมีความร้อนบอร์ดไม่ใช่อุณหภูมิอ้างอิงที่สอบเทียบ SD1408fileมีSHAและExcelเปิดread-only hashไม่เปลี่ยน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output/presentation_evidence/slide_evidence_20261014/manifest.json</a:t>
            </a:r>
          </a:p>
          <a:p xmlns:a="http://schemas.openxmlformats.org/drawingml/2006/main">
            <a:r>
              <a:t>output/deadline_20261018/sd_acceptance_longer/env_1791956522_e47806b1.csv.audit.json</a:t>
            </a:r>
          </a:p>
          <a:p xmlns:a="http://schemas.openxmlformats.org/drawingml/2006/main">
            <a:r>
              <a:t>output/deadline_20261018/sd_acceptance_longer/excel_open.json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25 วินาที (รวม 7 นาที)</a:t>
            </a:r>
          </a:p>
          <a:p xmlns:a="http://schemas.openxmlformats.org/drawingml/2006/main">
            <a:r>
              <a:t>ไม่กล่าวว่าครบrequirementsแล้ว การตรวจZIPsourceไม่แทนตรวจrepoทุกประวัติ INA กระแสยังไม่สอบเทียบ ไม่มีเทอร์โมมิเตอร์สำหรับ10จุด Garminเทียบได้เป็นconsumercomparisonแต่ไม่แทนเครื่องมาตรฐานอุณหภูมิ โค้ดแยกโมดูลและgateOTA30%มีแล้ว แต่ตัดไฟ3ครั้งยังไม่มีหลักฐาน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เวลาพูด 10 วินาที (รวม 7 นาที)</a:t>
            </a:r>
          </a:p>
          <a:p xmlns:a="http://schemas.openxmlformats.org/drawingml/2006/main">
            <a:r>
              <a:t>จบและเปิดคำถาม เตรียมตอบเรื่องpin/bus QoS1 LWT offlineการส่งซ้ำ ขอบเขตSD และผลที่ยังไม่ผ่าน เปิดแหล่งหลักฐานได้จากไฟล์ในproject ไม่ใส่รหัสผ่านหรือพิกัดดิบลงสไลด์</a:t>
            </a:r>
          </a:p>
          <a:p xmlns:a="http://schemas.openxmlformats.org/drawingml/2006/main">
            <a:r>
              <a:t>แหล่งข้อมูล: C:\Users\pomma\OneDrive\Desktop\02_Projects\KU_Watch_Display_First\output\deadline_20261018\requirements_original.json</a:t>
            </a:r>
          </a:p>
          <a:p xmlns:a="http://schemas.openxmlformats.org/drawingml/2006/main">
            <a:r>
              <a:t>เกณฑ์ประเมิน: https://github.com/cchantra/IoT-Lab/wiki/Week%E2%80%904%E2%80%90Project%E2%80%90Proposal%E2%80%90Rubric</a:t>
            </a:r>
          </a:p>
          <a:p xmlns:a="http://schemas.openxmlformats.org/drawingml/2006/main">
            <a:r>
              <a:t>ชุดนี้รายงานสถานะ ณ 15 ตุลาคม 2569 ภาพหลักฐานเป็นข้อมูลจริงที่บันทึก 14 ตุลาคม ไม่ใช่ค่าปัจจุบัน และไม่ใช่ผลผ่านทุกข้อ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37541255c42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3af19c1894e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71cfb99c645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6f54a77174b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e99a929284a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937f7088a4f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C03D6-D213-4D2F-B2E7-A9950F32B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7F2DC1-8010-4642-A74B-5C462BA9D9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43F789-09D6-4C3F-997D-AAFEBB926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548C55-2F2F-4E96-A2D2-22F1687D9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D50526-EDFA-431E-91F7-99E9606C08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0461F3-E473-4366-B907-0E0BC0D6F4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D85011-9F59-469D-9A49-DD5D6FDD3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BCDAC0-D210-4D7E-999B-0306AA2166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E91697-5001-4259-A8D3-5ABF439E7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C079C0-EE6E-422F-917E-C31BB2D8E8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6f9b203fb4485" /><Relationship Type="http://schemas.openxmlformats.org/officeDocument/2006/relationships/slideLayout" Target="/ppt/slideLayouts/slideLayout1.xml" Id="R8995e4b5def147e4" /><Relationship Type="http://schemas.openxmlformats.org/officeDocument/2006/relationships/slideLayout" Target="/ppt/slideLayouts/slideLayout2.xml" Id="R4c4b2e42f37b4788" /><Relationship Type="http://schemas.openxmlformats.org/officeDocument/2006/relationships/slideLayout" Target="/ppt/slideLayouts/slideLayout3.xml" Id="R6a8e8d16482f414c" /><Relationship Type="http://schemas.openxmlformats.org/officeDocument/2006/relationships/slideLayout" Target="/ppt/slideLayouts/slideLayout4.xml" Id="R02bb2e36e7cb4d14" /><Relationship Type="http://schemas.openxmlformats.org/officeDocument/2006/relationships/slideLayout" Target="/ppt/slideLayouts/slideLayout5.xml" Id="Rf64276aa4dad4023" /><Relationship Type="http://schemas.openxmlformats.org/officeDocument/2006/relationships/slideLayout" Target="/ppt/slideLayouts/slideLayout6.xml" Id="R1011a07a7faa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5e4b5def147e4"/>
    <p:sldLayoutId xmlns:r="http://schemas.openxmlformats.org/officeDocument/2006/relationships" id="2147483650" r:id="R4c4b2e42f37b4788"/>
    <p:sldLayoutId xmlns:r="http://schemas.openxmlformats.org/officeDocument/2006/relationships" id="2147483651" r:id="R6a8e8d16482f414c"/>
    <p:sldLayoutId xmlns:r="http://schemas.openxmlformats.org/officeDocument/2006/relationships" id="2147483652" r:id="R02bb2e36e7cb4d14"/>
    <p:sldLayoutId xmlns:r="http://schemas.openxmlformats.org/officeDocument/2006/relationships" id="2147483653" r:id="Rf64276aa4dad4023"/>
    <p:sldLayoutId xmlns:r="http://schemas.openxmlformats.org/officeDocument/2006/relationships" id="2147483654" r:id="R1011a07a7faa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7a8c3b008f454d" /><Relationship Type="http://schemas.openxmlformats.org/officeDocument/2006/relationships/notesSlide" Target="/ppt/notesSlides/notesSlide1.xml" Id="R0c9686b8d12148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ec3acfd324ca7" /><Relationship Type="http://schemas.openxmlformats.org/officeDocument/2006/relationships/notesSlide" Target="/ppt/notesSlides/notesSlide2.xml" Id="R2e6f688d88fa42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49f6bc7a9416e" /><Relationship Type="http://schemas.openxmlformats.org/officeDocument/2006/relationships/notesSlide" Target="/ppt/notesSlides/notesSlide3.xml" Id="R0e1f7210427d49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926181f0f4f01" /><Relationship Type="http://schemas.openxmlformats.org/officeDocument/2006/relationships/notesSlide" Target="/ppt/notesSlides/notesSlide4.xml" Id="Rca3937095ae4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108256cd741eb" /><Relationship Type="http://schemas.openxmlformats.org/officeDocument/2006/relationships/notesSlide" Target="/ppt/notesSlides/notesSlide5.xml" Id="Raddcd3c4689b44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a576a0eac4940" /><Relationship Type="http://schemas.openxmlformats.org/officeDocument/2006/relationships/image" Target="/ppt/media/image.jpeg" Id="R1b2872bbfa0244ea" /><Relationship Type="http://schemas.openxmlformats.org/officeDocument/2006/relationships/notesSlide" Target="/ppt/notesSlides/notesSlide6.xml" Id="R6bbd0938d67243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0a398325e4a30" /><Relationship Type="http://schemas.openxmlformats.org/officeDocument/2006/relationships/notesSlide" Target="/ppt/notesSlides/notesSlide7.xml" Id="R61390cdb49fa4f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ba98d438f4b77" /><Relationship Type="http://schemas.openxmlformats.org/officeDocument/2006/relationships/notesSlide" Target="/ppt/notesSlides/notesSlide8.xml" Id="R4522f76903c647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22dfd359f4427" /><Relationship Type="http://schemas.openxmlformats.org/officeDocument/2006/relationships/notesSlide" Target="/ppt/notesSlides/notesSlide9.xml" Id="R5090e08b0c1649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2a4b9131d4ce6" /><Relationship Type="http://schemas.openxmlformats.org/officeDocument/2006/relationships/notesSlide" Target="/ppt/notesSlides/notesSlide10.xml" Id="Ra00d7baec6c84a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7bc2895c74192" /><Relationship Type="http://schemas.openxmlformats.org/officeDocument/2006/relationships/notesSlide" Target="/ppt/notesSlides/notesSlide11.xml" Id="R269aad2a9ce249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90d6df30242ff" /><Relationship Type="http://schemas.openxmlformats.org/officeDocument/2006/relationships/image" Target="/ppt/media/image.png" Id="R172d974c1b3b404c" /><Relationship Type="http://schemas.openxmlformats.org/officeDocument/2006/relationships/image" Target="/ppt/media/image2.png" Id="R96dbabfda2544f1a" /><Relationship Type="http://schemas.openxmlformats.org/officeDocument/2006/relationships/notesSlide" Target="/ppt/notesSlides/notesSlide12.xml" Id="Re8521c833db04b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c07573c5346fa" /><Relationship Type="http://schemas.openxmlformats.org/officeDocument/2006/relationships/notesSlide" Target="/ppt/notesSlides/notesSlide13.xml" Id="Rb59cb65949354d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4f5640ae94ab2" /><Relationship Type="http://schemas.openxmlformats.org/officeDocument/2006/relationships/notesSlide" Target="/ppt/notesSlides/notesSlide14.xml" Id="R55ca3278191947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53237-3BF0-42A7-8019-860F35D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Smart Environment Watch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5309B-1026-4742-941F-67D19691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5351-993F-4BCD-95CC-F4E6D761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D56B2-5F5E-4892-91D1-77575AC1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F3CFC-5E3A-43C7-9589-FD6F911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F61AF-1621-4F2F-B80D-4E62558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10810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นาฬิกาตรวจสภาพแวดล้อม</a:t>
            </a:r>
          </a:p>
          <a:p xmlns:a="http://schemas.openxmlformats.org/drawingml/2006/main">
            <a:pPr>
              <a:defRPr sz="450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เชื่อมข้อมูลจากข้อมือถึงแดชบอร์ด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0536D-6A32-40F0-BDBE-E4F3E351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1238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ต้นแบบ 2 จอ · MQTT · ESP-NOW สองทาง</a:t>
            </a:r>
          </a:p>
          <a:p xmlns:a="http://schemas.openxmlformats.org/drawingml/2006/main">
            <a:pPr>
              <a:defRPr sz="26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บันทึกข้อมูลบนแฟลชและ MicroSD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0EACB-D998-462A-8A08-B4AC37A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48500"/>
            <a:ext cx="1266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สมาชิก / บทบาท: __________________________________</a:t>
            </a:r>
          </a:p>
          <a:p xmlns:a="http://schemas.openxmlformats.org/drawingml/2006/main">
            <a:pPr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สมาชิก / บทบาท: 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052F8-CEEF-4E7A-8AC3-1F24386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4290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WATCH 2.0.9</a:t>
            </a:r>
          </a:p>
          <a:p xmlns:a="http://schemas.openxmlformats.org/drawingml/2006/main">
            <a: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HUB 1.0.8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DBC0C-A088-42DC-AE72-AA44CC8D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38162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รายงานเพื่อการนำเสนอ</a:t>
            </a:r>
          </a:p>
          <a:p xmlns:a="http://schemas.openxmlformats.org/drawingml/2006/main">
            <a:pPr>
              <a:defRPr sz="23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18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592934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43794-DFD2-4836-9E95-79C3691E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ที่มาและวัตถุประสงค์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0222D-62CB-444C-A845-D2299AB5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238F1-F223-44B2-8253-F2BF872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กลุ่มเป้าหมาย: ผู้ทำกิจกรรมกลางแจ้งในมหาวิทยาลัยและพื้นที่เกษตร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14278-C1F9-42A5-8D5A-FE2CA33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79EC5-EA4B-4CD5-8515-5FC05FB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DCC8B-DA83-430D-ABD0-A0E6D12A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8105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D6702-B36C-41C9-9183-9DE648DF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78105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3C9C6-39EF-4BFC-90C6-C5769ABB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ปัญหาที่ต้องการแก้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2B8C2-1F5B-41D4-8387-AFC4E133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704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สภาพอากาศเปลี่ยนตามจุดใช้งาน</a:t>
            </a:r>
          </a:p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ต้องการดูค่าที่ข้อมือได้ทันที</a:t>
            </a:r>
          </a:p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ข้อมูลจากอุปกรณ์กระจายหลายส่วน</a:t>
            </a:r>
          </a:p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ต้องการเก็บย้อนหลังเพื่ออธิบายผล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2B042-9C67-4074-B652-B1BD90A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200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พื้นที่เป้าหมาย: ม.เกษตรฯ บางเขน</a:t>
            </a:r>
          </a:p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และพื้นที่เกษตรในจังหวัดอำนาจเจริญ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0D52D-0A17-4405-9EEC-6FD7F93C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86125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ผลลัพธ์ที่ออกแบบไว้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38EC0-C6A4-4F21-9BAF-492456C9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704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อ่านเซ็นเซอร์และแสดงค่าล่าสุด</a:t>
            </a:r>
          </a:p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ดูข้อมูลร่วมกันบนจอใหญ่และเว็บ</a:t>
            </a:r>
          </a:p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เก็บ CSV พร้อมเวลาและส่งย้อนหลัง</a:t>
            </a:r>
          </a:p>
          <a:p xmlns:a="http://schemas.openxmlformats.org/drawingml/2006/main">
            <a:pPr>
              <a:defRPr sz="27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7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แจ้งเตือนเมื่อค่าเกินเกณฑ์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AF5E5-0C14-4924-9F7C-C32BD2A5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6200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ชีพจร / SpO₂ เป็นข้อมูลเบื้องต้น</a:t>
            </a:r>
          </a:p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ไม่ใช่อุปกรณ์วินิจฉัยทางการแพทย์</a:t>
            </a:r>
          </a:p>
        </p:txBody>
      </p:sp>
    </p:spTree>
    <p:extLst>
      <p:ext uri="{BB962C8B-B14F-4D97-AF65-F5344CB8AC3E}">
        <p14:creationId xmlns:p14="http://schemas.microsoft.com/office/powerpoint/2010/main" val="849813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10D5F-001F-4B41-82EA-93C7EF8D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ขอบเขตงานตามเอกสารความต้องการ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B07FA-F02A-4A0D-941C-8FAC2F32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D9166-AE13-417D-B354-CB8F04E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จัดลำดับตาม MoSCoW เดิม และระบุส่วนที่เพิ่มภายหลัง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CAAB9-48AB-49A6-9451-2D7E6A1F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F3EE4-6E16-4F3A-AFF6-EEFC22F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04E33-56F0-44D5-B299-D3CE6CAC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3762375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A43BF-E0FE-4798-854A-1B1C5112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81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MUST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22EFE-1993-42A2-9E68-08B88759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D84A2-2EF0-4816-B0EB-2FD54614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3190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FR-01 อ่านเซ็นเซอร์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FR-02 แสดงผล / ทัช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FR-03 ส่ง MQTT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FR-04 บันทึก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83853-13F8-4EBE-AB95-25D30DE0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3762375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9533D-0042-4CC8-8073-631A1643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81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7393A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393A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7393AE"/>
                </a:solidFill>
                <a:latin typeface="Tahoma"/>
                <a:ea typeface="Tahoma"/>
                <a:cs typeface="Tahoma"/>
              </a:rPr>
              <a:t>SHOULD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E5DCC-C8CB-475F-825A-D2426BFE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29100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3AE"/>
          </a:solidFill>
          <a:ln xmlns:a="http://schemas.openxmlformats.org/drawingml/2006/main" w="19050">
            <a:solidFill>
              <a:srgbClr val="7393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7E207-C9A1-41A6-9125-BBBE83B4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9625"/>
            <a:ext cx="3190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FR-05 เก็บออฟไลน์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และส่งย้อนหลัง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FR-06 แจ้งเตือน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6BE71-99EE-48A5-80C3-C635CA30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3762375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9F84B-54AE-4DBA-9C2C-354CEC46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C59130"/>
                </a:solidFill>
                <a:latin typeface="Tahoma"/>
                <a:ea typeface="Tahoma"/>
                <a:cs typeface="Tahoma"/>
              </a:rPr>
              <a:t>COULD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A1ABD-D330-4781-B19E-7F5A0E07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29100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130"/>
          </a:solidFill>
          <a:ln xmlns:a="http://schemas.openxmlformats.org/drawingml/2006/main" w="19050">
            <a:solidFill>
              <a:srgbClr val="C5913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C11F3-C495-4F9E-BF98-B1379D4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9625"/>
            <a:ext cx="3190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FR-07 ตั้งค่าผ่าน NVS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FR-08 อัปเดต OTA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อัตโนมัติ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77CE8-6223-4519-BF17-154D33A1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3048000"/>
            <a:ext cx="3762375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7BD29-40D2-4636-AAB1-9B784DA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381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นอกขอบเขต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4D4A6-BD73-49AF-9656-1F2246A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229100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87D"/>
          </a:solidFill>
          <a:ln xmlns:a="http://schemas.openxmlformats.org/drawingml/2006/main" w="19050">
            <a:solidFill>
              <a:srgbClr val="6878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9225E-66B2-4CE6-B613-783BBF55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619625"/>
            <a:ext cx="3190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การวินิจฉัยโรค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การรับรองทางแพทย์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ผลิตภัณฑ์เชิงพาณิชย์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D2CC5-1786-4C9B-BD03-9F40FD73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05875"/>
            <a:ext cx="1619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ขอบเขตที่ปรับแล้ว: แฟลชตัวเล็ก + MicroSD จอใหญ่ / ใช้ GY-51 แทน QMI8658 (ไม่มีไจโร)</a:t>
            </a:r>
          </a:p>
        </p:txBody>
      </p:sp>
    </p:spTree>
    <p:extLst>
      <p:ext uri="{BB962C8B-B14F-4D97-AF65-F5344CB8AC3E}">
        <p14:creationId xmlns:p14="http://schemas.microsoft.com/office/powerpoint/2010/main" val="586426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3D47E-434A-4D73-9048-E03F6E3266A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620500" y="3738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A98D"/>
            </a:solidFill>
            <a:headEnd type="none" w="med" len="me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D1074-7810-483E-B7D2-24698A6F449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00750" y="3738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A98D"/>
            </a:solidFill>
            <a:headEnd type="none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25555-7546-4269-A055-DB6C1AA8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Workflow: จากการเปิดเครื่องถึงการใช้งาน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9B864-73D2-4041-B702-36EC431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FE6E4-A4B5-4A79-AED0-E4C23B7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setup(): GPIO / จอ / NVS / LittleFS / เซ็นเซอร์ / เวลา / เครือข่าย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F7426-FCF3-4A51-B8B8-FCEA6046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376CF-FE80-43F6-AC46-60D2041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2D050-7B24-4386-9678-02A476B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4953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15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4AFEF-0F01-4F21-9E59-0DCB8816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7C35A-F862-48F1-AB3C-821E347A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38750"/>
            <a:ext cx="4343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อ่าน MAX30102 / BME68x</a:t>
            </a:r>
          </a:p>
          <a:p xmlns:a="http://schemas.openxmlformats.org/drawingml/2006/main">
            <a: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GY-51 / INA226 /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6D553-28E1-4A64-B4E7-4406E1E2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แยกจังหวะอ่านแต่ละเซ็นเซอร์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07A48-A82F-43F5-AB4F-5440D20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953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D93A4-26CB-481A-8CDF-8D34B163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5CC30-06FA-4FBF-ABAE-31064A93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38750"/>
            <a:ext cx="4343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กรองค่า / ตรวจความพร้อม</a:t>
            </a:r>
          </a:p>
          <a:p xmlns:a="http://schemas.openxmlformats.org/drawingml/2006/main">
            <a: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ประเมินเกณฑ์เตือน / เวลา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50668-3185-4B58-A910-5BCC263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1437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ข้อมูลไม่พร้อมแสดง -- ไม่แทนด้วย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86486-4A38-4009-9125-4EEDA9D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43250"/>
            <a:ext cx="4953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15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D462D-2F7A-4F14-9619-7EA55D44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8577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766E1-5661-4A47-BDBA-BF4696C1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238750"/>
            <a:ext cx="4343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แสดงจอ / ส่ง MQTT</a:t>
            </a:r>
          </a:p>
          <a:p xmlns:a="http://schemas.openxmlformats.org/drawingml/2006/main">
            <a:pPr>
              <a:defRPr sz="26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บันทึก / รับคำสั่งจากจอใหญ่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07FDD-6981-4681-9714-4B37F78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1437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บริการปุ่ม ทัช และงานเครือข่าย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42FBC-C9BB-42D7-87DF-F8F36BF8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0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จังหวะหลัก: MQTT 1 วินาที / CSV 5 วินาที / IAQ ประมาณ 3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734620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ED232-6BBD-4A7C-8838-EC49729F7D0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858250" y="4905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A98D"/>
            </a:solidFill>
            <a:headEnd type="arrow" w="med" len="me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23BAF-077A-4EAC-9DC2-387561FD5DE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144250" y="39290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A98D"/>
            </a:solidFill>
            <a:headEnd type="none" w="med" len="me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54BF8-FB76-416C-83ED-D4F429E6D07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53000" y="39290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A98D"/>
            </a:solidFill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0E0AD-8EDE-466E-A600-AA6AC313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สถาปัตยกรรมระบบ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21FE0-1C3E-4C52-A567-D3F93EE4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606C6-64D2-45A1-B11E-9B16B06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สัญญาณ 3.3V · ตัวเล็กเก็บข้อมูลเอง · จอใหญ่รับคำสั่งและบันทึก MicroSD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EB5F-F6A0-4B42-B67B-28D6C75E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422FB-D705-44A4-9F65-8DC914B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0F64D-3741-451B-AB17-A5B32003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390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เซ็นเซอร์ I²C</a:t>
            </a:r>
          </a:p>
          <a:p xmlns:a="http://schemas.openxmlformats.org/drawingml/2006/main">
            <a: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SDA8 / SCL9</a:t>
            </a:r>
          </a:p>
          <a:p xmlns:a="http://schemas.openxmlformats.org/drawingml/2006/main">
            <a: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GPS UART RX12 / TX13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6C32D-9FCB-4F6E-8CCC-79BB8ADE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572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ESP32-S3 SuperMini</a:t>
            </a:r>
          </a:p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LittleFS / NVS</a:t>
            </a:r>
          </a:p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ปุ่มเดียว GPIO4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7B2BC-338F-4C00-8355-558C85F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952750"/>
            <a:ext cx="4191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จอเล็ก GC9A01A / SPI</a:t>
            </a:r>
          </a:p>
          <a:p xmlns:a="http://schemas.openxmlformats.org/drawingml/2006/main">
            <a: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SCK10 MOSI11</a:t>
            </a:r>
          </a:p>
          <a:p xmlns:a="http://schemas.openxmlformats.org/drawingml/2006/main">
            <a:pPr algn="ctr"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CS6 DC7 RST5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B2DA4-F962-436D-8A21-AE94DD0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10250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จอใหญ่ 480 × 480</a:t>
            </a:r>
          </a:p>
          <a:p xmlns:a="http://schemas.openxmlformats.org/drawingml/2006/main">
            <a:pPr algn="ctr"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ทัช / RTC / MicroSD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AF98F-585D-4BE5-9D8E-0413F081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53125"/>
            <a:ext cx="547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ESP-NOW สองทาง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FF141-5610-41E4-A431-5D2F2D1F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19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MQTT: TLS / QoS 1 / LWT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87CD9-71F1-4308-9301-0E8BB704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0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ตัวเล็ก → HiveMQ Cloud → Node-RED → SQLite queue → InfluxDB → Grafana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26822-D984-43EA-AB29-BBE7D41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96375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Topic ปัจจุบัน: ku_watch/live และ /status · JSON: device / sample_id / timestamp / temp / iaq_valid / backfill</a:t>
            </a:r>
          </a:p>
        </p:txBody>
      </p:sp>
    </p:spTree>
    <p:extLst>
      <p:ext uri="{BB962C8B-B14F-4D97-AF65-F5344CB8AC3E}">
        <p14:creationId xmlns:p14="http://schemas.microsoft.com/office/powerpoint/2010/main" val="5776645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95E10-C94A-46C8-B432-7B52BA39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ฮาร์ดแวร์และการแบ่งงาน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A3918-C3CC-4D96-87DF-2CEE233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EA2FC-8BEE-40E3-B354-8CA47960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เหตุผลเลือก: แยกจอสวมใส่กับจอแสดงผลร่วม และใช้บัสมาตรฐาน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99B06-A1C1-4B99-9869-E0501A1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C35C0-83AA-4742-BF70-68876BF6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0480F-DC0D-4AED-8C91-C983AB936A82}"/>
              </a:ext>
            </a:extLst>
          </p:cNvPr>
          <p:cNvGraphicFramePr/>
          <p:nvPr/>
        </p:nvGraphicFramePr>
        <p:xfrm>
          <a:off xmlns:a="http://schemas.openxmlformats.org/drawingml/2006/main" x="1047750" y="2714625"/>
          <a:ext xmlns:a="http://schemas.openxmlformats.org/drawingml/2006/main" cx="161925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6667500"/>
                <a:gridCol w="3333750"/>
              </a:tblGrid>
              <a:tr h="769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อุปกรณ์ / Interface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หน้าที่และเหตุผล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ราคา / ผู้รับผิดชอบ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ESP32-S3 + GC9A01A / SPI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ตัวเล็กสวมใส่ / ปุ่มเดียว / Wi-Fi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________________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MAX30102 + BME68x + GY-51 / I²C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ชีพจร / อากาศ / การเคลื่อนไหว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________________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INA226 / I²C + GPS / UART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แรงดันแบต / ตำแหน่งกลางแจ้ง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________________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Touch-LCD-2.1 + RTC + MicroSD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จอใหญ่ / ทัช / CSV พร้อมเวลา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________________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LiPo 3.7V 1000mAh + สวิตช์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ใช้แบตนอกสถานที่ / ทดสอบในห้องด้วย USB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________________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FC530-2E04-4BD0-9011-8C9A6844E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872bbfa0244ea"/>
          <a:stretch xmlns:a="http://schemas.openxmlformats.org/drawingml/2006/main"/>
        </p:blipFill>
        <p:spPr>
          <a:xfrm xmlns:a="http://schemas.openxmlformats.org/drawingml/2006/main">
            <a:off x="1940719" y="7620000"/>
            <a:ext cx="1357313" cy="1809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40F5A-D0B8-459A-8894-D6D9257F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6287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ต้นแบบจริงระหว่างพัฒนา</a:t>
            </a:r>
          </a:p>
          <a:p xmlns:a="http://schemas.openxmlformats.org/drawingml/2006/main">
            <a:pPr>
              <a:defRPr sz="210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มีการเปลี่ยนเลย์เอาต์และเฟิร์มแวร์ภายหลัง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D914F-D379-436A-AE0C-9ED412B8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8105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งบเป้าหมาย ≤ 3,000 บาท</a:t>
            </a:r>
          </a:p>
          <a:p xmlns:a="http://schemas.openxmlformats.org/drawingml/2006/main">
            <a:pPr>
              <a:defRPr sz="232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ยังรอเติมราคาซื้อจริง</a:t>
            </a:r>
          </a:p>
        </p:txBody>
      </p:sp>
    </p:spTree>
    <p:extLst>
      <p:ext uri="{BB962C8B-B14F-4D97-AF65-F5344CB8AC3E}">
        <p14:creationId xmlns:p14="http://schemas.microsoft.com/office/powerpoint/2010/main" val="612283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D9EDF-EB2C-460D-AB83-6F9D61BF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ผลการดำเนินงาน: ข้อกำหนดหลัก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85374-081C-4A87-8024-81700E53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C5D9D-B8F4-4CB6-91C9-29836064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FR-01 ถึง FR-04 · แยกผลใช้งานจริงออกจากเกณฑ์ที่ยังรอทดสอบ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00E99-3ED3-42C2-BB7F-4B8E7D5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162BC-48F2-45D4-872D-DB0824C1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8CD5-3704-46FB-8E5F-400015898D74}"/>
              </a:ext>
            </a:extLst>
          </p:cNvPr>
          <p:cNvGraphicFramePr/>
          <p:nvPr/>
        </p:nvGraphicFramePr>
        <p:xfrm>
          <a:off xmlns:a="http://schemas.openxmlformats.org/drawingml/2006/main" x="1047750" y="2714625"/>
          <a:ext xmlns:a="http://schemas.openxmlformats.org/drawingml/2006/main" cx="16192500" cy="604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6238875"/>
                <a:gridCol w="8048625"/>
              </a:tblGrid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ข้อกำหนด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สิ่งที่ต้องทำ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ผลและขอบเขตหลักฐาน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FR-01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อ่านเซ็นเซอร์ / ชีพจร / SpO₂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อัปเดตต่อเนื่องตามเกณฑ์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อ่านค่าจริงได้; ปลายนิ้วขึ้น BPM / SpO₂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รอทดสอบทุกค่าครบ 1 นาทีในรุ่นล่าสุด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FR-02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แสดงค่า เวลา แบต และสถานะ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เปลี่ยนหน้าด้วยทัช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✓ ผู้ใช้ยืนยันแสดงครบ สถานะตรง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จอใหญ่แตะเปลี่ยนหน้าได้ตามปกติ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FR-03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MQTT JSON ทุก 1 วินาที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QoS 1 / LWT / ตรวจรับ 5 นาที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ส่งข้อมูลเข้า backend ได้จริง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รอตรวจครบ 5 นาที; topic ต่างจากเอกสาร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FR-04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MicroSD CSV ทุก 5 วินาที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เวลา RTC / เปิดใน Excel ได้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✓ ชุดหลักฐาน 1,408 แถว เปิดใน Excel ได้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ช่วงที่ตรวจ 1 ชม. 57 นาที 32 วินาที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2A991-1080-4B6E-B06B-8F7BAFA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39225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✓ หมายถึงมีหลักฐานตามขอบเขตที่ระบุในช่องผล ไม่ใช่การรับรองผ่านทั้งระบบ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30542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5270A-BFAB-47C3-BAAC-25CB89F7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ผลการดำเนินงาน: ข้อกำหนดรอง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E12A2-36F0-4C4C-A3EA-D462FE19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29C9-BEC5-467D-819C-B012734C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FR-05 ถึง FR-08 · มีส่วนที่พัฒนาแล้ว แต่ยังไม่ปิดเกณฑ์ตรวจรับทั้งหมด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16A28-465F-4244-9741-C4656AC4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95B9E-0C7F-4B40-8998-2525A1F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3D99A-A5B5-4C2E-AC89-564D67CA81DF}"/>
              </a:ext>
            </a:extLst>
          </p:cNvPr>
          <p:cNvGraphicFramePr/>
          <p:nvPr/>
        </p:nvGraphicFramePr>
        <p:xfrm>
          <a:off xmlns:a="http://schemas.openxmlformats.org/drawingml/2006/main" x="1047750" y="2714625"/>
          <a:ext xmlns:a="http://schemas.openxmlformats.org/drawingml/2006/main" cx="16192500" cy="604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6238875"/>
                <a:gridCol w="8048625"/>
              </a:tblGrid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ข้อกำหนด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สิ่งที่ต้องทำ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สถานะปัจจุบัน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FR-05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เก็บออฟไลน์ / ส่งย้อนหลังครบ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ตัด Wi-Fi 10 นาทีแล้วต่อกลับ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มี LittleFS journal + replay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รอทดสอบตัดเน็ต 10 นาทีบนรุ่นล่าสุด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FR-06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IAQ &gt; 150 หรือ T &gt; 35°C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3 รอบ; เตือนภายใน 5 วินาที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มี logic และภาพแจ้งเตือนจริง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รอวัดเวลาจริง; IAQ อ่านราว 3 วินาที/รอบ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FR-07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แก้ Wi-Fi / broker / threshold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เก็บ NVS และมีผลหลังรีบูต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มีหน้าตั้งค่าและคงค่าหลังอัปเดต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รอตรวจครบทุกช่องหลังรีบูต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FR-08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ตรวจเวอร์ชัน / ดาวน์โหลด OTA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อัตโนมัติภายใน 24 ชั่วโมง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ติดตั้ง WATCH 2.0.9 / HUB 1.0.8 ผ่าน USB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ยังไม่ผ่านทดสอบ OTA อัตโนมัติ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F3182-225E-4B9C-AC2F-599595C1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39225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การอัปโหลดผ่าน USB ยืนยันเวอร์ชันที่ติดตั้ง ไม่ใช้แทนผลทดสอบ OTA 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1744022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9A7D2-CF59-407B-ADD8-CAA9C57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ผลการทดสอบคุณภาพระบบ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E9665-BA5B-4DB5-B75B-01043DE4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D583B-DF2D-4193-97E6-282B77E0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NFR-01 ถึง NFR-04 · รายงานค่าที่วัดได้พร้อมข้อจำกัด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2C529-A67D-4869-B89D-A0267CE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BD3DF-5DA8-4D79-9E1F-E1132B11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07AFD-1FF2-4D53-B0E6-A2E406C87EF9}"/>
              </a:ext>
            </a:extLst>
          </p:cNvPr>
          <p:cNvGraphicFramePr/>
          <p:nvPr/>
        </p:nvGraphicFramePr>
        <p:xfrm>
          <a:off xmlns:a="http://schemas.openxmlformats.org/drawingml/2006/main" x="1047750" y="2714625"/>
          <a:ext xmlns:a="http://schemas.openxmlformats.org/drawingml/2006/main" cx="16192500" cy="604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953125"/>
                <a:gridCol w="8048625"/>
              </a:tblGrid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ข้อกำหนด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เกณฑ์ในเอกสาร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หลักฐาน / รายการที่ยังรอ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T w="14288">
                      <a:solidFill>
                        <a:srgbClr val="D9E2E3"/>
                      </a:solidFill>
                      <a:prstDash val="solid"/>
                    </a:lnT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3F8F6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NFR-01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ทำงานต่อเนื่อง 24 ชั่วโมง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ไม่ต้องรีบูตด้วยมือ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รับ MQTT สะสม 22 ชม. 12 นาที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ต่อเนื่องยาวสุด 8 ชม. 10 นาที; ยังไม่ครบ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NFR-02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เน็ตหรือ broker ล่ม 10 นาที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ทำงานต่อและต่อกลับอัตโนมัติ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มี backoff และส่งย้อนหลัง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รอทดสอบควบคุม 10 นาทีบนรุ่นล่าสุด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NFR-03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Grafana ≤ 5 วินาที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ทัช ≤ 300 มิลลิวินาที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query เดิมเฉลี่ย 3.091 วินาที / 10 ครั้ง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ยังไม่รวมเวลาวาดเว็บและทัชจริง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9675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40A98D"/>
                          </a:solidFill>
                          <a:latin typeface="Tahoma"/>
                          <a:ea typeface="Tahoma"/>
                          <a:cs typeface="Tahoma"/>
                        </a:rPr>
                        <a:t>NFR-04</a:t>
                      </a:r>
                    </a:p>
                  </a:txBody>
                  <a:tcPr marL="91440" marR="91440" marT="45720" marB="45720">
                    <a:lnL w="14288">
                      <a:solidFill>
                        <a:srgbClr val="D9E2E3"/>
                      </a:solidFill>
                      <a:prstDash val="solid"/>
                    </a:lnL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แบต 1000mAh ใช้งาน 6 ชั่วโมง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จนเหลือ 20%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ใช้ USB ทดสอบระบบ / แบตใช้กลางแจ้ง</a:t>
                      </a:r>
                    </a:p>
                    <a:p>
                      <a:r>
                        <a:rPr sz="2250" b="0">
                          <a:solidFill>
                            <a:srgbClr val="28353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ยังไม่มีผลทดสอบอายุแบต 6 ชั่วโมง</a:t>
                      </a:r>
                    </a:p>
                  </a:txBody>
                  <a:tcPr marL="91440" marR="91440" marT="45720" marB="45720">
                    <a:lnR w="14288">
                      <a:solidFill>
                        <a:srgbClr val="D9E2E3"/>
                      </a:solidFill>
                      <a:prstDash val="solid"/>
                    </a:lnR>
                    <a:lnB w="14288">
                      <a:solidFill>
                        <a:srgbClr val="D9E2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8B4AF-B37A-423A-A2BC-21BE5794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39225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ตัวเก็บหลักฐานหยุดพักตามคำขอผู้ใช้ · เวลาสะสมไม่ใช่เวลาทำงานต่อเนื่อง และไม่ใช่อายุแบต</a:t>
            </a:r>
          </a:p>
        </p:txBody>
      </p:sp>
    </p:spTree>
    <p:extLst>
      <p:ext uri="{BB962C8B-B14F-4D97-AF65-F5344CB8AC3E}">
        <p14:creationId xmlns:p14="http://schemas.microsoft.com/office/powerpoint/2010/main" val="1012525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C67E8-7DF0-46DD-8B32-A4CE64A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สิ่งที่พัฒนาเพิ่มเติมจากขอบเขตเดิม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5B40B-3882-4FF0-8F05-CDFD4BF4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E12B9-CFC3-44A8-A350-80EE60B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ฟังก์ชันเสริมที่ใช้ในการสาธิต ไม่ใช้ทดแทนข้อกำหนดหลัก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B2162-4080-4AC6-B3FF-B5076438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745F-A075-485A-9954-40B8E03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CF2F1-EB9C-4644-99EE-9C4193D0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EE8BF-34EE-4627-B712-5046EBE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434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จอใหญ่สองทาง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52DFD-C8A2-473D-B0B2-3625D6C3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ทัชสั่งเปลี่ยนหน้าตัวเล็ก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สื่อสารด้วย ESP-NOW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F6BAB-BAB6-420A-ABD8-190DBF5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3F340-2695-454A-ACBB-7C4423D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34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7393A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7393AE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7393AE"/>
                </a:solidFill>
                <a:latin typeface="Tahoma"/>
                <a:ea typeface="Tahoma"/>
                <a:cs typeface="Tahoma"/>
              </a:rPr>
              <a:t>แผนที่และ GPS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41127-D804-418C-8ECC-2489737B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005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GPS FIX / ตำแหน่งจริง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เลือกซูมได้ถึงระดับ 25 เมตร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2A2E7-E194-4E82-89CC-83B9CD47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0FCC4-B7BA-49CA-AAB9-74F915BB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143250"/>
            <a:ext cx="434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C59130"/>
                </a:solidFill>
                <a:latin typeface="Tahoma"/>
                <a:ea typeface="Tahoma"/>
                <a:cs typeface="Tahoma"/>
              </a:rPr>
              <a:t>WALK / 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5939D-A2F4-4599-B359-9CB0CC0A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0005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เริ่ม–หยุดด้วยปุ่มเดียว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บันทึกกิจกรรมและส่งออก TCX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E5003-3DB2-4A69-98A6-8F4F0970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D6DB3-AA15-4DB1-9AB9-E7738E91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34125"/>
            <a:ext cx="434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แฟลช + MicroSD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9C0AB-179B-4FEB-A9D4-53F0C3D0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91375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journal / activity บนตัวเล็ก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CSV พร้อม RTC บนจอใหญ่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117BC-9E89-44D4-92CB-D7955F98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048375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795E4-9DD8-4F92-9863-AD7F8912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334125"/>
            <a:ext cx="434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7393A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7393AE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7393AE"/>
                </a:solidFill>
                <a:latin typeface="Tahoma"/>
                <a:ea typeface="Tahoma"/>
                <a:cs typeface="Tahoma"/>
              </a:rPr>
              <a:t>เวลาเมื่อเปิดเครื่อง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560A8-45C4-43AD-8274-A9AC7DB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191375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รับเวลาจาก GPS / NTP / Hub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เมื่อมีแหล่งเวลาที่พร้อมใช้งาน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F4A9E-9E98-4FC0-923F-4EA37E09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48375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88248-876B-4C44-BB37-383987C4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6334125"/>
            <a:ext cx="434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C59130"/>
                </a:solidFill>
                <a:latin typeface="Tahoma"/>
                <a:ea typeface="Tahoma"/>
                <a:cs typeface="Tahoma"/>
              </a:rPr>
              <a:t>KU 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5B249-1EC6-498E-B540-263386A5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191375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ตัวละครคู่กับนาฬิกา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แสดงท่าทางและกิจกรรม</a:t>
            </a:r>
          </a:p>
        </p:txBody>
      </p:sp>
    </p:spTree>
    <p:extLst>
      <p:ext uri="{BB962C8B-B14F-4D97-AF65-F5344CB8AC3E}">
        <p14:creationId xmlns:p14="http://schemas.microsoft.com/office/powerpoint/2010/main" val="18857547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3B24B-CEA3-49F0-9406-D0E5583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คลิปสาธิตและทดสอบ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ADCA4-9A28-4CF3-BB3D-B5DC7858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88B41-1A4D-43B9-92E5-02EC6B8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แทนที่กรอบด้วยคลิปจริงของคุณ · กดเล่นระหว่างนำเสนอได้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8BFCA-C921-4FDF-B3D8-F5C795B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B9B04-DFBE-407A-9423-9EE3D74E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6" name="VIDEO_INSERT_HERE_1">
            <a:extLst xmlns:a="http://schemas.openxmlformats.org/drawingml/2006/main">
              <a:ext uri="{FF2B5EF4-FFF2-40B4-BE49-F238E27FC236}">
                <a16:creationId xmlns:a16="http://schemas.microsoft.com/office/drawing/2014/main" id="{9CB4FDF0-3936-43A2-91B1-DD1867E5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7858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6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0B180-65E2-4260-A785-78A069A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8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01  การใช้งานสองจอ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4A9F5-6A5F-49C8-8A69-013F0EBB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43325"/>
            <a:ext cx="728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วางคลิปที่นี่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B43FF-E6B9-43FF-9D26-E6852CA2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86275"/>
            <a:ext cx="728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เปลี่ยนหน้า / ทัช / เวลาและสถานะ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C1ABB-C1EB-47B2-AF46-7FC4DA4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ผู้ใช้แจ้งว่าถ่ายแล้ว</a:t>
            </a:r>
          </a:p>
        </p:txBody>
      </p:sp>
      <p:sp>
        <p:nvSpPr>
          <p:cNvPr id="11" name="VIDEO_INSERT_HERE_2">
            <a:extLst xmlns:a="http://schemas.openxmlformats.org/drawingml/2006/main">
              <a:ext uri="{FF2B5EF4-FFF2-40B4-BE49-F238E27FC236}">
                <a16:creationId xmlns:a16="http://schemas.microsoft.com/office/drawing/2014/main" id="{69BE341C-3D36-4571-8783-6F41563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62250"/>
            <a:ext cx="7858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6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A14B2-666E-486E-9949-7DA13055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728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02  เซ็นเซอร์และ GPS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69E8F-1727-4922-87F1-E7E99AB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43325"/>
            <a:ext cx="728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วางคลิปที่นี่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9A27F-E698-4AFF-BA74-69DD3F84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86275"/>
            <a:ext cx="728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ค่าจริง / GPS FIX / ซูมแผนที่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7C421-A27D-45D3-AA23-401180FD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6730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ผู้ใช้แจ้งว่าถ่ายแล้ว</a:t>
            </a:r>
          </a:p>
        </p:txBody>
      </p:sp>
      <p:sp>
        <p:nvSpPr>
          <p:cNvPr id="16" name="VIDEO_INSERT_HERE_3">
            <a:extLst xmlns:a="http://schemas.openxmlformats.org/drawingml/2006/main">
              <a:ext uri="{FF2B5EF4-FFF2-40B4-BE49-F238E27FC236}">
                <a16:creationId xmlns:a16="http://schemas.microsoft.com/office/drawing/2014/main" id="{3FF4D8E4-001B-41B2-A64B-DA45953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7858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6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24409-DFA1-4E0F-9374-0382916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24600"/>
            <a:ext cx="728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03  บันทึกข้อมูล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0BDF4-B05E-4081-9615-D2E033C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77075"/>
            <a:ext cx="728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วางคลิปที่นี่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9B1DB-F646-4022-BD7A-B4E08E16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0025"/>
            <a:ext cx="728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บันทึก MicroSD → เปิด Excel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16339-2158-43D0-90E7-07B41AA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0105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มีไฟล์จริงพร้อมใช้ประกอบคลิป</a:t>
            </a:r>
          </a:p>
        </p:txBody>
      </p:sp>
      <p:sp>
        <p:nvSpPr>
          <p:cNvPr id="21" name="VIDEO_INSERT_HERE_4">
            <a:extLst xmlns:a="http://schemas.openxmlformats.org/drawingml/2006/main">
              <a:ext uri="{FF2B5EF4-FFF2-40B4-BE49-F238E27FC236}">
                <a16:creationId xmlns:a16="http://schemas.microsoft.com/office/drawing/2014/main" id="{E23798A6-2025-4F26-96E4-9814562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96000"/>
            <a:ext cx="7858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6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53E39-193D-41A7-B305-630F1E1B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24600"/>
            <a:ext cx="728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04  ออฟไลน์แล้วต่อกลับ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0E039-17D7-451B-9E40-CCF7388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077075"/>
            <a:ext cx="728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วางคลิปที่นี่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4E645-6555-4A1F-BE05-DAAB2E2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820025"/>
            <a:ext cx="728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ตัดเน็ต 10 นาที → ส่งย้อนหลัง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210AA-F613-450F-84D7-D94C20F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401050"/>
            <a:ext cx="728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รอทดสอบรุ่นล่าสุดและถ่ายคลิป</a:t>
            </a:r>
          </a:p>
        </p:txBody>
      </p:sp>
    </p:spTree>
    <p:extLst>
      <p:ext uri="{BB962C8B-B14F-4D97-AF65-F5344CB8AC3E}">
        <p14:creationId xmlns:p14="http://schemas.microsoft.com/office/powerpoint/2010/main" val="989858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00EB9-2520-4366-9C81-7977F5EA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สรุปผลและหลักฐานที่เก็บแล้ว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9C7D8-296A-4AFA-89CC-0B2EF4B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A0A9D-0563-4819-826E-133DDD7A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ภาพจากเครื่องมือจริง วันที่ 14 ตุลาคม 2569 · ไม่ใช่ข้อมูลจำลอง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12ED8-D177-499F-A698-E93DC9A9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2BB8-367A-4E50-AE04-BAE5428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17683-5100-4A59-8A9C-EA2168459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d974c1b3b404c"/>
          <a:stretch xmlns:a="http://schemas.openxmlformats.org/drawingml/2006/main"/>
        </p:blipFill>
        <p:spPr>
          <a:xfrm xmlns:a="http://schemas.openxmlformats.org/drawingml/2006/main">
            <a:off x="1077355" y="2714625"/>
            <a:ext cx="5655791" cy="6191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CB32-D7EA-4376-ABE0-A061AA51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630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Grafana: อุณหภูมิย้อนหลังจากข้อมูลจริง</a:t>
            </a:r>
          </a:p>
          <a:p xmlns:a="http://schemas.openxmlformats.org/drawingml/2006/main">
            <a:pPr>
              <a:defRPr sz="18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ยังไม่ได้สอบเทียบกับเทอร์โมมิเตอร์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F88F1-B37D-4DA6-B1CE-CF173B3CE7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babfda2544f1a"/>
          <a:stretch xmlns:a="http://schemas.openxmlformats.org/drawingml/2006/main"/>
        </p:blipFill>
        <p:spPr>
          <a:xfrm xmlns:a="http://schemas.openxmlformats.org/drawingml/2006/main">
            <a:off x="7429500" y="2737757"/>
            <a:ext cx="9810750" cy="2382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FB046-4E97-4482-BC37-B541ACD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816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896 แถว / 896 sample_id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93590-3358-4C7A-80C4-3733BEB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96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InfluxDB: ช่วง 15 นาทีที่ตรวจเมื่อ 14 ตุลาคม</a:t>
            </a:r>
          </a:p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ตรวจจำนวนแถวและข้อมูลซ้ำจากฐานข้อมูลจริง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FE72-A978-45B5-A9EE-539F33A3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390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1,408 แถว 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EECA2-EDE1-4741-9CEC-2FD23768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00100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เวลาในไฟล์ 1 ชม. 57 นาที 32 วินาที</a:t>
            </a:r>
          </a:p>
          <a:p xmlns:a="http://schemas.openxmlformats.org/drawingml/2006/main">
            <a:pPr>
              <a:defRPr sz="232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เปิดด้วย Excel และตรวจโครงสร้าง 26 คอลัมน์</a:t>
            </a:r>
          </a:p>
        </p:txBody>
      </p:sp>
    </p:spTree>
    <p:extLst>
      <p:ext uri="{BB962C8B-B14F-4D97-AF65-F5344CB8AC3E}">
        <p14:creationId xmlns:p14="http://schemas.microsoft.com/office/powerpoint/2010/main" val="7599694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4EF58-9145-4BAD-9E64-07D297F7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บทเรียนและรายการก่อนตรวจรับครบ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428A5-2166-4A31-811F-564A8471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88DCD-A84C-4AF9-98E6-D6CF225B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619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สาธิตเส้นทางข้อมูลจริงได้แล้ว พร้อมระบุข้อจำกัดให้ตรวจซ้ำได้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06F92-0BC8-440D-9486-D9A62CDD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8F6F-0F45-47F7-B3DE-B95334E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BBA04-5E08-4EC0-92E8-52CDB3E1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8105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8AF36-8E01-48BE-B99B-42E06704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78105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01E83-3B46-4896-A298-B4B4C0A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บทเรียนจากการพัฒนา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5C700-8013-4792-95DE-6C4619E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7048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แยกงานทัช / เครือข่ายลดอาการหน่วง</a:t>
            </a:r>
          </a:p>
          <a:p xmlns:a="http://schemas.openxmlformats.org/drawingml/2006/main">
            <a:pPr>
              <a:defRPr sz="24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กู้จอหลังการกดปุ่มจากซอฟต์แวร์</a:t>
            </a:r>
          </a:p>
          <a:p xmlns:a="http://schemas.openxmlformats.org/drawingml/2006/main">
            <a:pPr>
              <a:defRPr sz="24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ข้อมูลต้องมีเวลาและ sample_id</a:t>
            </a:r>
          </a:p>
          <a:p xmlns:a="http://schemas.openxmlformats.org/drawingml/2006/main">
            <a:pPr>
              <a:defRPr sz="2475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เก็บไฟล์ดิบและภาพพร้อมเวลาเสมอ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0738F-6E02-4990-9688-03F096F5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รอบสาธิต: ใช้ USB / เตรียมคลิปสำรอง</a:t>
            </a:r>
          </a:p>
          <a:p xmlns:a="http://schemas.openxmlformats.org/drawingml/2006/main">
            <a:pPr>
              <a:defRPr sz="20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ค่าชีพจรข้อมือขึ้นกับการแนบเซ็นเซอร์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2C3F9-69D7-44FA-9558-9BCD84E2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C59130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C59130"/>
                </a:solidFill>
                <a:latin typeface="Tahoma"/>
                <a:ea typeface="Tahoma"/>
                <a:cs typeface="Tahoma"/>
              </a:rPr>
              <a:t>รายการที่ยังไม่ปิด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0DB9-7C87-4C33-BA1B-BEC50CFC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7048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NFR-05 ตรวจ credentials ใน repo ที่ส่ง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NFR-06 เทียบอุณหภูมิ 10 จุด ±3°C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NFR-07 เติม BOM จริง เทียบงบ 3,000</a:t>
            </a:r>
          </a:p>
          <a:p xmlns:a="http://schemas.openxmlformats.org/drawingml/2006/main">
            <a:pPr>
              <a:defRPr sz="240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NFR-08 OTA ตัดไฟ / rollback 3 ครั้ง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87924-B5F1-4E26-ADCC-8702269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10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รวมถึงทดสอบ 24 ชั่วโมงต่อเนื่อง</a:t>
            </a:r>
          </a:p>
          <a:p xmlns:a="http://schemas.openxmlformats.org/drawingml/2006/main">
            <a:pPr>
              <a:defRPr sz="202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ออฟไลน์ 10 นาที / latency / แบต 6 ชั่วโมง</a:t>
            </a:r>
          </a:p>
        </p:txBody>
      </p:sp>
    </p:spTree>
    <p:extLst>
      <p:ext uri="{BB962C8B-B14F-4D97-AF65-F5344CB8AC3E}">
        <p14:creationId xmlns:p14="http://schemas.microsoft.com/office/powerpoint/2010/main" val="1913147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7BCD8-7FF7-43BF-ACB9-9413360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"/>
            <a:ext cx="1619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ขอบคุณครับ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AD436-6D44-4C1C-A2B3-877C6204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285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8D"/>
          </a:solidFill>
          <a:ln xmlns:a="http://schemas.openxmlformats.org/drawingml/2006/main" w="19050">
            <a:solidFill>
              <a:srgbClr val="40A98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74593-1327-4756-8293-D322DA6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763125"/>
            <a:ext cx="1381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KU WATCH  /  15 ตุลาคม 2569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DFAA1-45C8-49E4-ABA6-EE8A8FD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9763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0A98D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95FEA-64E0-4EA2-BFE8-53448D4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81375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40A98D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40A98D"/>
                </a:solidFill>
                <a:latin typeface="Tahoma"/>
                <a:ea typeface="Tahoma"/>
                <a:cs typeface="Tahoma"/>
              </a:rPr>
              <a:t>Smart Environment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E4986-11BD-4E0A-8BB9-D6D99DB2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1219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2850" b="0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ข้อมูลจากอุปกรณ์จริง → บันทึกตรวจสอบได้ → แสดงผลร่วมกัน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34CA6-9D50-4B24-8F86-4A745462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191250"/>
            <a:ext cx="1219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8353B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28353B"/>
                </a:solidFill>
                <a:latin typeface="Tahoma"/>
                <a:ea typeface="Tahoma"/>
                <a:cs typeface="Tahoma"/>
              </a:rPr>
              <a:t>คำถามและข้อเสนอแนะ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09D9F-A35A-473B-AB0F-6989CE8F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0"/>
            <a:ext cx="1219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สมาชิก / บทบาท: __________________________________</a:t>
            </a:r>
          </a:p>
          <a:p xmlns:a="http://schemas.openxmlformats.org/drawingml/2006/main">
            <a:pPr>
              <a:defRPr sz="2175" b="0">
                <a:solidFill>
                  <a:srgbClr val="68787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8787D"/>
                </a:solidFill>
                <a:latin typeface="Tahoma"/>
                <a:ea typeface="Tahoma"/>
                <a:cs typeface="Tahoma"/>
              </a:rPr>
              <a:t>สมาชิก / บทบาท: 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63750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2026-10-15T07:03:45.6130000Z</dcterms:created>
  <dcterms:modified xsi:type="dcterms:W3CDTF">2026-10-15T07:03:45.6140000Z</dcterms:modified>
</coreProperties>
</file>