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แนะนำต้นแบบและผู้จัดทำ ภาพบนหน้าปกเป็นเครื่องจริงระหว่างพัฒนา ไม่ใช้ค่าบนภาพเก่าเป็นผลตรวจรับรอบสุดท้าย</a:t>
            </a:r>
          </a:p>
          <a:p>
            <a:endParaRPr/>
          </a:p>
          <a:p>
            <a:r>
              <a:t>Recorded evidence: 16 October 2026 unless a different date is shown.</a:t>
            </a:r>
          </a:p>
          <a:p>
            <a:r>
              <a:t>05_Project_Photos/development/17-environment.jpg</a:t>
            </a:r>
          </a:p>
          <a:p>
            <a:r>
              <a:t>03_Requirements/Requirements_V2_Original.docx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อธิบายโจทย์การดูข้อมูล ณ จุดใช้งานและการตรวจย้อนหลัง สิ่งที่ทำจริงคือการอ่านค่าจากต้นแบบและการส่งเข้าระบบข้อมูล ไม่กล่าวอ้างการใช้งานทางการแพทย์</a:t>
            </a:r>
          </a:p>
          <a:p>
            <a:endParaRPr/>
          </a:p>
          <a:p>
            <a:r>
              <a:t>Recorded evidence: 16 October 2026 unless a different date is shown.</a:t>
            </a:r>
          </a:p>
          <a:p>
            <a:r>
              <a:t>05_Project_Photos/hardware/prototype-in-use-01.jpg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ระบุอุปกรณ์ที่ใช้จริง ขอบเขต GY-51 และการย้าย MicroSD ไปจอใหญ่เป็นการปรับที่ผู้ใช้แจ้งว่าอาจารย์อนุมัติแล้ว เกณฑ์เดิมยังอยู่ในเอกสารให้เทียบ</a:t>
            </a:r>
          </a:p>
          <a:p>
            <a:endParaRPr/>
          </a:p>
          <a:p>
            <a:r>
              <a:t>Recorded evidence: 16 October 2026 unless a different date is shown.</a:t>
            </a:r>
          </a:p>
          <a:p>
            <a:r>
              <a:t>03_Requirements/Requirements_V2_Original.docx</a:t>
            </a:r>
          </a:p>
          <a:p>
            <a:r>
              <a:t>04_Evidence/files/FR01_sensor_display.json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ไล่จากตัวสวมใส่ถึงผู้ใช้งาน ข้อมูลสดกับข้อมูลย้อนหลังใช้รหัสจับข้อมูลเดิมเพื่อแยกการส่งซ้ำ จอใหญ่และ MicroSD เป็นเส้นทางเก็บใกล้ตัว ไม่ต้องรอ Grafana</a:t>
            </a:r>
          </a:p>
          <a:p>
            <a:endParaRPr/>
          </a:p>
          <a:p>
            <a:r>
              <a:t>Recorded evidence: 16 October 2026 unless a different date is shown.</a:t>
            </a:r>
          </a:p>
          <a:p>
            <a:r>
              <a:t>docs/ARCHITECTURE.md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แสดงพัฒนาการของตัวเรือนจริงจากไฟล์ที่ผู้ใช้บันทึก รุ่นแบบในภาพเป็นประวัติงานออกแบบ มีแบบประกอบและวงจร Rev A ในภาคผนวก</a:t>
            </a:r>
          </a:p>
          <a:p>
            <a:endParaRPr/>
          </a:p>
          <a:p>
            <a:r>
              <a:t>Recorded evidence: 16 October 2026 unless a different date is shown.</a:t>
            </a:r>
          </a:p>
          <a:p>
            <a:r>
              <a:t>05_Project_Photos/development/01-cad.png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อธิบายการจัดวางและตรวจการประกอบ ภาพแสดงขั้นตอนทำงานจริง รวมถึงชุดสายที่ยังเปิดเพื่อวัดและแก้ปัญหา</a:t>
            </a:r>
          </a:p>
          <a:p>
            <a:endParaRPr/>
          </a:p>
          <a:p>
            <a:r>
              <a:t>Recorded evidence: 16 October 2026 unless a different date is shown.</a:t>
            </a:r>
          </a:p>
          <a:p>
            <a:r>
              <a:t>05_Project_Photos/development/03-layout.jpg</a:t>
            </a:r>
          </a:p>
          <a:p>
            <a:r>
              <a:t>05_Project_Photos/development/04-battery.jpg</a:t>
            </a:r>
          </a:p>
          <a:p>
            <a:r>
              <a:t>05_Project_Photos/development/05-assembly-wide.jpg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ตัวเลขทั้งหมดจากผล FR-01 รอบ 23:02 ถึง 23:03 น. การวางนิ้วบนโต๊ะ valid ต่อเนื่อง 69.704 s ไม่มี FIFO reset หรือหน้าต่างคุณภาพที่ขาด ภาพเป็นคลิปสาธิตเดิมและไม่ใช้แทนช่วงตรวจรับ</a:t>
            </a:r>
          </a:p>
          <a:p>
            <a:endParaRPr/>
          </a:p>
          <a:p>
            <a:r>
              <a:t>Recorded evidence: 16 October 2026 unless a different date is shown.</a:t>
            </a:r>
          </a:p>
          <a:p>
            <a:r>
              <a:t>04_Evidence/files/FR01_sensor_display.json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ภาพเป็นหน้าจอจริงช่วงพัฒนา ผลตรวจรับใช้คำสั่งและ ACK ครบ 11 หน้า พร้อมคำยืนยันผู้ใช้เรื่องเวลา แบตเตอรี่ ภาพครบ และรุ่น 2.0.15 ทั้งสองจอ แยกจาก NFR เวลาแตะ 300 ms</a:t>
            </a:r>
          </a:p>
          <a:p>
            <a:endParaRPr/>
          </a:p>
          <a:p>
            <a:r>
              <a:t>Recorded evidence: 16 October 2026 unless a different date is shown.</a:t>
            </a:r>
          </a:p>
          <a:p>
            <a:r>
              <a:t>04_Evidence/files/FR02_pages.json</a:t>
            </a:r>
          </a:p>
          <a:p>
            <a:r>
              <a:t>04_Evidence/files/Display_confirmation_2.0.15.json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รับ MQTT รุ่น 2.0.15 ผ่านเส้นทางอินเทอร์เน็ตบ้านครบหนึ่งรอบห้านาที ลำดับไม่ขาด QoS1 และ LWT ตรวจแยก ไม่ใช้เพียงภาพกราฟเป็นหลักฐานการรับครบ</a:t>
            </a:r>
          </a:p>
          <a:p>
            <a:endParaRPr/>
          </a:p>
          <a:p>
            <a:r>
              <a:t>Recorded evidence: 16 October 2026 unless a different date is shown.</a:t>
            </a:r>
          </a:p>
          <a:p>
            <a:r>
              <a:t>04_Evidence/files/FR03_mqtt_5min.json</a:t>
            </a:r>
          </a:p>
          <a:p>
            <a:r>
              <a:t>05_Project_Photos/dashboards/backend/NodeRED_flow_fit.png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แสดงข้อมูลที่มีเวลาและ sample_id พร้อมค่าจากเซ็นเซอร์ รูปนี้เป็นผล query ที่เก็บไว้ ไม่มีการสร้างแถวข้อมูลเพื่อทำภาพนำเสนอ</a:t>
            </a:r>
          </a:p>
          <a:p>
            <a:endParaRPr/>
          </a:p>
          <a:p>
            <a:r>
              <a:t>Recorded evidence: 16 October 2026 unless a different date is shown.</a:t>
            </a:r>
          </a:p>
          <a:p>
            <a:r>
              <a:t>05_Project_Photos/dashboards/backend/Influx_rows.png</a:t>
            </a:r>
          </a:p>
          <a:p>
            <a:r>
              <a:t>05_Project_Photos/dashboards/backend/Influx_counts.png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เปิดภาพเต็มแล้วชี้ตัวอย่างค่า ณ เวลานั้นและกราฟย้อนหลัง เน้นเวลาบนภาพ ไม่บอกว่าเป็นข้อมูลสด ณ วันที่เปิดไฟล์</a:t>
            </a:r>
          </a:p>
          <a:p>
            <a:endParaRPr/>
          </a:p>
          <a:p>
            <a:r>
              <a:t>Recorded evidence: 16 October 2026 unless a different date is shown.</a:t>
            </a:r>
          </a:p>
          <a:p>
            <a:r>
              <a:t>05_Project_Photos/dashboards/session-2026-10-16/Grafana_live_50s.png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ผลนี้ปิด FR-05 และ NFR-02 ในขอบเขตรอบตัด Wi-Fi จริง การกลับมาดูกราฟเป็นเพียงสื่อประกอบ หลักฐานการครบใช้รหัสในฐานข้อมูล</a:t>
            </a:r>
          </a:p>
          <a:p>
            <a:endParaRPr/>
          </a:p>
          <a:p>
            <a:r>
              <a:t>Recorded evidence: 16 October 2026 unless a different date is shown.</a:t>
            </a:r>
          </a:p>
          <a:p>
            <a:r>
              <a:t>04_Evidence/files/FR05_offline_10min.json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แสดงเจ็ดแถวแรกจาก CSV จริงตามตัวเลขเดิม การบันทึกอ้าง RTC บนจอใหญ่ ตรวจไฟล์เต็มในหน้า Evidence ได้ รายงาน Excel เป็นการเปิดอ่านอย่างเดียว</a:t>
            </a:r>
          </a:p>
          <a:p>
            <a:endParaRPr/>
          </a:p>
          <a:p>
            <a:r>
              <a:t>Recorded evidence: 16 October 2026 unless a different date is shown.</a:t>
            </a:r>
          </a:p>
          <a:p>
            <a:r>
              <a:t>04_Evidence/files/FR04_sd_export.csv</a:t>
            </a:r>
          </a:p>
          <a:p>
            <a:r>
              <a:t>04_Evidence/files/FR04_excel_open.json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เกณฑ์อนุญาตจำลองค่า จึงป้อนค่าใหม่สามรอบที่1Hzผ่านระบบเตือนจริง ทั้งสองกรณีแสดงบนอุปกรณ์และbrowserไม่เกิน5s การรอBSECสามค่าจริงเป็นขอบเขตอีกแบบ</a:t>
            </a:r>
          </a:p>
          <a:p>
            <a:endParaRPr/>
          </a:p>
          <a:p>
            <a:r>
              <a:t>Recorded evidence: 16 October 2026 unless a different date is shown.</a:t>
            </a:r>
          </a:p>
          <a:p>
            <a:r>
              <a:t>04_Evidence/files/FR06_alert_test.json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ข้อความนี้คัดบางบรรทัดจาก serial log จริง รุ่นใหม่ติดตั้งอัตโนมัติ ไม่ได้ส่งคำสั่งOTACHECKหรืออัปโหลดUSBในรอบนี้ การทดลองตัดไฟกลางOTAสามครั้งยังไม่ครบ</a:t>
            </a:r>
          </a:p>
          <a:p>
            <a:endParaRPr/>
          </a:p>
          <a:p>
            <a:r>
              <a:t>Recorded evidence: 16 October 2026 unless a different date is shown.</a:t>
            </a:r>
          </a:p>
          <a:p>
            <a:r>
              <a:t>04_Evidence/files/FR08_automatic_ota.json</a:t>
            </a:r>
          </a:p>
          <a:p>
            <a:r>
              <a:t>04_Evidence/files/FR08_mqtt_version.json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มีผลตรวจรับตามขอบเขตครบทั้งแปดFR การผ่านแต่ละข้อไม่ได้ทำให้NFRที่ยังค้างผ่านไปด้วย</a:t>
            </a:r>
          </a:p>
          <a:p>
            <a:endParaRPr/>
          </a:p>
          <a:p>
            <a:r>
              <a:t>Recorded evidence: 16 October 2026 unless a different date is shown.</a:t>
            </a:r>
          </a:p>
          <a:p>
            <a:r>
              <a:t>03_Requirements/Requirements_V2_Checked.docx</a:t>
            </a:r>
          </a:p>
          <a:p>
            <a:r>
              <a:t>04_Evidence/index.html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รายงานยอดจากสถานะจริง ณ วันที่20Oct ข้อมูลต่อเนื่องกับสะสมอยู่คนละตัวเลข การไม่มีข้อมูลไม่ได้เพิ่มเวลา ผลไม่ครอบคลุมแบตเตอรี่หรือทุกข้อของระบบ</a:t>
            </a:r>
          </a:p>
          <a:p>
            <a:endParaRPr/>
          </a:p>
          <a:p>
            <a:r>
              <a:t>Recorded evidence: 16 October 2026 unless a different date is shown.</a:t>
            </a:r>
          </a:p>
          <a:p>
            <a:r>
              <a:t>04_Evidence/files/soak_snapshot.json</a:t>
            </a:r>
          </a:p>
          <a:p>
            <a:r>
              <a:t>04_Evidence/files/soak_failed_original.json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NFR05ตรวจไฟล์ที่commitและไฟล์แนบก่อนขึ้นprivateGitHub ข้อที่ยังไม่ได้วัดหรือยังไม่มีข้อมูลราคาไม่ใช้การคาดเดาเป็นผลผ่าน</a:t>
            </a:r>
          </a:p>
          <a:p>
            <a:endParaRPr/>
          </a:p>
          <a:p>
            <a:r>
              <a:t>Recorded evidence: 16 October 2026 unless a different date is shown.</a:t>
            </a:r>
          </a:p>
          <a:p>
            <a:r>
              <a:t>https://github.com/SSRobotic/ku-watch</a:t>
            </a:r>
          </a:p>
          <a:p>
            <a:r>
              <a:t>03_Requirements/Requirements_V2_Checked.docx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ปิดด้วยผลที่ทำได้และสิ่งที่ยังพิสูจน์ไม่ครบ พร้อมเปิดไฟล์หลักฐานตอบคำถาม ไม่มีการสรุปว่าโครงงานผ่านทุกเกณฑ์</a:t>
            </a:r>
          </a:p>
          <a:p>
            <a:endParaRPr/>
          </a:p>
          <a:p>
            <a:r>
              <a:t>Recorded evidence: 16 October 2026 unless a different date is shown.</a:t>
            </a:r>
          </a:p>
          <a:p>
            <a:r>
              <a:t>03_Requirements/Requirements_V2_Checked.docx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หน้าหลักของชุดส่งงานลิงก์ถึงทุกไฟล์ ภาคผนวกต่อไปเป็นภาพจริงและแบบช่วงออกแบบ ไม่จำเป็นต้องเปิดทุกหน้าในเวลานำเสนอหลัก</a:t>
            </a:r>
          </a:p>
          <a:p>
            <a:endParaRPr/>
          </a:p>
          <a:p>
            <a:r>
              <a:t>Recorded evidence: 16 October 2026 unless a different date is shown.</a:t>
            </a:r>
          </a:p>
          <a:p>
            <a:r>
              <a:t>START_HERE.html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ภาพปัญหาระหว่างพัฒนา ใช้อธิบายการตรวจสายและการเข้าถึงปุ่ม ภาพต้นฉบับเต็มอยู่ในโฟลเดอร์05_Project_Photos</a:t>
            </a:r>
          </a:p>
          <a:p>
            <a:endParaRPr/>
          </a:p>
          <a:p>
            <a:r>
              <a:t>Recorded evidence: 16 October 2026 unless a different date is shown.</a:t>
            </a:r>
          </a:p>
          <a:p>
            <a:r>
              <a:t>05_Project_Photos/development/07-lcd-issue.jpg</a:t>
            </a:r>
          </a:p>
          <a:p>
            <a:r>
              <a:t>05_Project_Photos/development/08-button.jpg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ตรวจช่อง USB ร่องสาย และการเสียบใช้งานก่อนประกอบขั้นสุดท้าย ภาพต้นฉบับเต็มอยู่ในโฟลเดอร์05_Project_Photos</a:t>
            </a:r>
          </a:p>
          <a:p>
            <a:endParaRPr/>
          </a:p>
          <a:p>
            <a:r>
              <a:t>Recorded evidence: 16 October 2026 unless a different date is shown.</a:t>
            </a:r>
          </a:p>
          <a:p>
            <a:r>
              <a:t>05_Project_Photos/development/09-usb-small.jpg</a:t>
            </a:r>
          </a:p>
          <a:p>
            <a:r>
              <a:t>05_Project_Photos/development/10-slot.jpg</a:t>
            </a:r>
          </a:p>
          <a:p>
            <a:r>
              <a:t>05_Project_Photos/development/11-usb-hub.jpg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จัดวางบอร์ดและตรวจระยะตัวเรือน ภาพเก็บไว้ระหว่างประกอบ ภาพต้นฉบับเต็มอยู่ในโฟลเดอร์05_Project_Photos</a:t>
            </a:r>
          </a:p>
          <a:p>
            <a:endParaRPr/>
          </a:p>
          <a:p>
            <a:r>
              <a:t>Recorded evidence: 16 October 2026 unless a different date is shown.</a:t>
            </a:r>
          </a:p>
          <a:p>
            <a:r>
              <a:t>05_Project_Photos/development/12-hub-marked.jpg</a:t>
            </a:r>
          </a:p>
          <a:p>
            <a:r>
              <a:t>05_Project_Photos/development/13-hub-board.jpg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ภาพหลายมุมของตัวสวมใส่และชุดสายที่ใช้ทดสอบ ภาพต้นฉบับเต็มอยู่ในโฟลเดอร์05_Project_Photos</a:t>
            </a:r>
          </a:p>
          <a:p>
            <a:endParaRPr/>
          </a:p>
          <a:p>
            <a:r>
              <a:t>Recorded evidence: 16 October 2026 unless a different date is shown.</a:t>
            </a:r>
          </a:p>
          <a:p>
            <a:r>
              <a:t>05_Project_Photos/development/18-open-home.jpg</a:t>
            </a:r>
          </a:p>
          <a:p>
            <a:r>
              <a:t>05_Project_Photos/development/19-open-env.jpg</a:t>
            </a:r>
          </a:p>
          <a:p>
            <a:r>
              <a:t>05_Project_Photos/development/20-env-angle.jpg</a:t>
            </a:r>
          </a:p>
          <a:p>
            <a:r>
              <a:t>05_Project_Photos/development/21-env-wide.jpg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แสดงความคืบหน้าจากข้อมูลบนตัวเครื่องไปถึง flow และ dashboard ภาพต้นฉบับเต็มอยู่ในโฟลเดอร์05_Project_Photos</a:t>
            </a:r>
          </a:p>
          <a:p>
            <a:endParaRPr/>
          </a:p>
          <a:p>
            <a:r>
              <a:t>Recorded evidence: 16 October 2026 unless a different date is shown.</a:t>
            </a:r>
          </a:p>
          <a:p>
            <a:r>
              <a:t>05_Project_Photos/development/22-backend-photo.jpg</a:t>
            </a:r>
          </a:p>
          <a:p>
            <a:r>
              <a:t>05_Project_Photos/development/23-backend-screen.png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เอกสารช่วงออกแบบ 16 ก.ย. 2026 มีหมายเหตุรุ่นโมเดลและส่วนที่ต้องปรับ ภาพต้นฉบับเต็มอยู่ในโฟลเดอร์05_Project_Photos</a:t>
            </a:r>
          </a:p>
          <a:p>
            <a:endParaRPr/>
          </a:p>
          <a:p>
            <a:r>
              <a:t>Recorded evidence: 16 October 2026 unless a different date is shown.</a:t>
            </a:r>
          </a:p>
          <a:p>
            <a:r>
              <a:t>06_Hardware/KU_Watch_Drawing.PDF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แบบร่างการเชื่อมต่อ 16 ก.ย. 2026 หมายเหตุ planned ในแบบเป็นสถานะของวันนั้น ภาพต้นฉบับเต็มอยู่ในโฟลเดอร์05_Project_Photos</a:t>
            </a:r>
          </a:p>
          <a:p>
            <a:endParaRPr/>
          </a:p>
          <a:p>
            <a:r>
              <a:t>Recorded evidence: 16 October 2026 unless a different date is shown.</a:t>
            </a:r>
          </a:p>
          <a:p>
            <a:r>
              <a:t>06_Hardware/KU_Watch_Schematic.pdf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บอร์ด ESP32-S3 Super Mini และการตรวจโมดูลจากตัวเครื่องจริง ภาพต้นฉบับเต็มอยู่ในโฟลเดอร์05_Project_Photos</a:t>
            </a:r>
          </a:p>
          <a:p>
            <a:endParaRPr/>
          </a:p>
          <a:p>
            <a:r>
              <a:t>Recorded evidence: 16 October 2026 unless a different date is shown.</a:t>
            </a:r>
          </a:p>
          <a:p>
            <a:r>
              <a:t>05_Project_Photos/development/02-mcu.jpg</a:t>
            </a:r>
          </a:p>
          <a:p>
            <a:r>
              <a:t>05_Project_Photos/development/06-devices.jpg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ลิงก์ใช้พาธภายในชุดZIP ต้องแตกโฟลเดอร์ทั้งหมดก่อนเปิด คำสั่งเปิดหน้าหลักอยู่ที่START_HERE.html</a:t>
            </a:r>
          </a:p>
          <a:p>
            <a:endParaRPr/>
          </a:p>
          <a:p>
            <a:r>
              <a:t>Recorded evidence: 16 October 2026 unless a different date is shown.</a:t>
            </a:r>
          </a:p>
          <a:p>
            <a:r>
              <a:t>04_Evidence/index.html</a:t>
            </a:r>
          </a:p>
          <a:p>
            <a:r>
              <a:t>02_Demo/KU_Watch_Demo_6min.mp4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1A8879D-ADF1-45E0-9CDE-B0B302A90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3886200"/>
            <a:ext cx="14630400" cy="14859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2B68D29E-31F8-49A6-9B48-DF665553B5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43200" y="5657850"/>
            <a:ext cx="12801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AB8E4E31-A41E-483C-9642-B405873AA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4286250"/>
            <a:ext cx="14630400" cy="17145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B6EDC82-99F6-40DE-AC9E-4FC615FC4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800100"/>
            <a:ext cx="16230600" cy="12573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5AAFEBAD-27AD-4D4F-A458-7470144A9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2857500"/>
            <a:ext cx="16230600" cy="6400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74C37B6-3E17-4E25-841A-AB2CD04E9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800100"/>
            <a:ext cx="16230600" cy="12573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195B0EA3-865F-41DB-B57A-7B26426958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2857500"/>
            <a:ext cx="7543800" cy="6400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6B9BA40D-31BC-4D0A-951E-D7478A5D9E0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9715500" y="2857500"/>
            <a:ext cx="7543800" cy="6400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880FD2D-E27B-46FD-869F-71B5C8A2B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800100"/>
            <a:ext cx="16230600" cy="12573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045849C2-CFB5-46ED-9260-BCD129AB24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2857500"/>
            <a:ext cx="7543800" cy="6400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7.jp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14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5" Type="http://schemas.openxmlformats.org/officeDocument/2006/relationships/image" Target="../media/image15.png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2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../04_Evidence/index.html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Relationship Id="rId4" Type="http://schemas.openxmlformats.org/officeDocument/2006/relationships/hyperlink" Target="../02_Demo/KU_Watch_Demo_6min.mp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>
            <a:extLst>
              <a:ext uri="{FF2B5EF4-FFF2-40B4-BE49-F238E27FC236}">
                <a16:creationId xmlns:a16="http://schemas.microsoft.com/office/drawing/2014/main" id="{9D36F538-7BFB-47EE-9FB4-9A8CC80F4FD5}"/>
              </a:ext>
            </a:extLst>
          </p:cNvPr>
          <p:cNvSpPr>
            <a:spLocks noGrp="1"/>
          </p:cNvSpPr>
          <p:nvPr/>
        </p:nvSpPr>
        <p:spPr>
          <a:xfrm>
            <a:off x="857250" y="476250"/>
            <a:ext cx="165735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pPr>
            <a:r>
              <a: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rPr>
              <a:t>KU Watch</a:t>
            </a:r>
          </a:p>
        </p:txBody>
      </p:sp>
      <p:sp>
        <p:nvSpPr>
          <p:cNvPr id="2" name="footer">
            <a:extLst>
              <a:ext uri="{FF2B5EF4-FFF2-40B4-BE49-F238E27FC236}">
                <a16:creationId xmlns:a16="http://schemas.microsoft.com/office/drawing/2014/main" id="{EEF092E8-76C2-409F-A3F5-AE216640C042}"/>
              </a:ext>
            </a:extLst>
          </p:cNvPr>
          <p:cNvSpPr>
            <a:spLocks noGrp="1"/>
          </p:cNvSpPr>
          <p:nvPr/>
        </p:nvSpPr>
        <p:spPr>
          <a:xfrm>
            <a:off x="857250" y="9677400"/>
            <a:ext cx="14763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KU Watch   Final presentation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E8182993-F48A-48C2-9892-D7EB9BDAC48E}"/>
              </a:ext>
            </a:extLst>
          </p:cNvPr>
          <p:cNvSpPr>
            <a:spLocks noGrp="1"/>
          </p:cNvSpPr>
          <p:nvPr/>
        </p:nvSpPr>
        <p:spPr>
          <a:xfrm>
            <a:off x="16764000" y="9677400"/>
            <a:ext cx="762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01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98D3F639-4979-46EE-B814-1D67CBD39832}"/>
              </a:ext>
            </a:extLst>
          </p:cNvPr>
          <p:cNvSpPr>
            <a:spLocks noGrp="1"/>
          </p:cNvSpPr>
          <p:nvPr/>
        </p:nvSpPr>
        <p:spPr>
          <a:xfrm>
            <a:off x="857250" y="2143125"/>
            <a:ext cx="80962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975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3975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3975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3975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3975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3975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3975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3975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3975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3975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3975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pPr>
            <a:r>
              <a:rPr sz="3975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rPr>
              <a:t>Smart Environment Watch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2CDA7034-7E4F-47DB-9201-1ABE9021B38E}"/>
              </a:ext>
            </a:extLst>
          </p:cNvPr>
          <p:cNvSpPr>
            <a:spLocks noGrp="1"/>
          </p:cNvSpPr>
          <p:nvPr/>
        </p:nvSpPr>
        <p:spPr>
          <a:xfrm>
            <a:off x="857250" y="3381375"/>
            <a:ext cx="8096250" cy="1714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2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32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32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32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32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32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32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32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32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32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32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pPr>
            <a:r>
              <a:rPr sz="32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rPr>
              <a:t>ต้นแบบนาฬิกาตรวจสภาพแวดล้อม</a:t>
            </a:r>
          </a:p>
          <a:p>
            <a:pPr>
              <a:defRPr sz="32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pPr>
            <a:r>
              <a:rPr sz="32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rPr>
              <a:t>พร้อมจอแสดงผลร่วมและฐานข้อมูล</a:t>
            </a: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0AD3551E-E546-492F-86EA-3F322EBEE1AA}"/>
              </a:ext>
            </a:extLst>
          </p:cNvPr>
          <p:cNvSpPr>
            <a:spLocks noGrp="1"/>
          </p:cNvSpPr>
          <p:nvPr/>
        </p:nvSpPr>
        <p:spPr>
          <a:xfrm>
            <a:off x="857250" y="6334125"/>
            <a:ext cx="809625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47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47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47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47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47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47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47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47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47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247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pPr>
            <a:r>
              <a:rPr sz="247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rPr>
              <a:t>นายศรัณยภัทร สันตะวงค์</a:t>
            </a:r>
          </a:p>
          <a:p>
            <a:pPr>
              <a:defRPr sz="247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pPr>
            <a:r>
              <a:rPr sz="247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rPr>
              <a:t>นายวิชยุตม์ อินแก้ว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ACDCA5CD-DDE2-47C6-A38E-C1E099DD72E6}"/>
              </a:ext>
            </a:extLst>
          </p:cNvPr>
          <p:cNvSpPr>
            <a:spLocks noGrp="1"/>
          </p:cNvSpPr>
          <p:nvPr/>
        </p:nvSpPr>
        <p:spPr>
          <a:xfrm>
            <a:off x="857250" y="8048625"/>
            <a:ext cx="809625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17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17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17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17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17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17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17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17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17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217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217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รายวิชาปฏิบัติการระบบ IoT</a:t>
            </a:r>
          </a:p>
          <a:p>
            <a:pPr>
              <a:defRPr sz="217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217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Watch 2.0.15   Hub 1.0.8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5DD4F96-78E3-4D11-A1FD-28600BEFDA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28070" y="1666875"/>
            <a:ext cx="4547235" cy="733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020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A556E21F-8C3F-4B36-8C57-FAC8E24EEF17}"/>
              </a:ext>
            </a:extLst>
          </p:cNvPr>
          <p:cNvSpPr>
            <a:spLocks noGrp="1"/>
          </p:cNvSpPr>
          <p:nvPr/>
        </p:nvSpPr>
        <p:spPr>
          <a:xfrm>
            <a:off x="857250" y="476250"/>
            <a:ext cx="165735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pPr>
            <a:r>
              <a: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rPr>
              <a:t>โจทย์และการใช้งาน</a:t>
            </a:r>
          </a:p>
        </p:txBody>
      </p:sp>
      <p:sp>
        <p:nvSpPr>
          <p:cNvPr id="2" name="footer">
            <a:extLst>
              <a:ext uri="{FF2B5EF4-FFF2-40B4-BE49-F238E27FC236}">
                <a16:creationId xmlns:a16="http://schemas.microsoft.com/office/drawing/2014/main" id="{725E0657-573A-4380-BB4F-472818493A2A}"/>
              </a:ext>
            </a:extLst>
          </p:cNvPr>
          <p:cNvSpPr>
            <a:spLocks noGrp="1"/>
          </p:cNvSpPr>
          <p:nvPr/>
        </p:nvSpPr>
        <p:spPr>
          <a:xfrm>
            <a:off x="857250" y="9677400"/>
            <a:ext cx="14763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KU Watch   Final presentation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F6838667-98FF-408D-A7BA-BA1F4BF71165}"/>
              </a:ext>
            </a:extLst>
          </p:cNvPr>
          <p:cNvSpPr>
            <a:spLocks noGrp="1"/>
          </p:cNvSpPr>
          <p:nvPr/>
        </p:nvSpPr>
        <p:spPr>
          <a:xfrm>
            <a:off x="16764000" y="9677400"/>
            <a:ext cx="762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02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CECCFE87-B734-4E9F-9090-6BF83A0BC9DA}"/>
              </a:ext>
            </a:extLst>
          </p:cNvPr>
          <p:cNvSpPr>
            <a:spLocks noGrp="1"/>
          </p:cNvSpPr>
          <p:nvPr/>
        </p:nvSpPr>
        <p:spPr>
          <a:xfrm>
            <a:off x="857250" y="2286000"/>
            <a:ext cx="781050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300" b="1">
                <a:solidFill>
                  <a:srgbClr val="176E5B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3300" b="1">
                <a:solidFill>
                  <a:srgbClr val="176E5B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3300" b="1">
                <a:solidFill>
                  <a:srgbClr val="176E5B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3300" b="1">
                <a:solidFill>
                  <a:srgbClr val="176E5B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3300" b="1">
                <a:solidFill>
                  <a:srgbClr val="176E5B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3300" b="1">
                <a:solidFill>
                  <a:srgbClr val="176E5B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3300" b="1">
                <a:solidFill>
                  <a:srgbClr val="176E5B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3300" b="1">
                <a:solidFill>
                  <a:srgbClr val="176E5B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3300" b="1">
                <a:solidFill>
                  <a:srgbClr val="176E5B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3300" b="1">
                <a:solidFill>
                  <a:srgbClr val="176E5B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3300" b="1">
                <a:solidFill>
                  <a:srgbClr val="176E5B"/>
                </a:solidFill>
                <a:latin typeface="Leelawadee UI"/>
                <a:ea typeface="Leelawadee UI"/>
                <a:cs typeface="Leelawadee UI"/>
              </a:defRPr>
            </a:pPr>
            <a:r>
              <a:rPr sz="3300" b="1">
                <a:solidFill>
                  <a:srgbClr val="176E5B"/>
                </a:solidFill>
                <a:latin typeface="Leelawadee UI"/>
                <a:ea typeface="Leelawadee UI"/>
                <a:cs typeface="Leelawadee UI"/>
              </a:rPr>
              <a:t>อ่านค่าที่จุดใช้งาน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1943AD7D-36D9-4AF5-ABE8-136D8405DF1C}"/>
              </a:ext>
            </a:extLst>
          </p:cNvPr>
          <p:cNvSpPr>
            <a:spLocks noGrp="1"/>
          </p:cNvSpPr>
          <p:nvPr/>
        </p:nvSpPr>
        <p:spPr>
          <a:xfrm>
            <a:off x="857250" y="3333750"/>
            <a:ext cx="7810500" cy="3714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9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9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9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9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9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9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9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9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9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9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29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pPr>
            <a:r>
              <a:rPr sz="29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rPr>
              <a:t>แสดงสภาพแวดล้อมบนตัวสวมใส่</a:t>
            </a:r>
          </a:p>
          <a:p>
            <a:pPr>
              <a:defRPr sz="29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pPr>
            <a:r>
              <a:rPr sz="29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rPr>
              <a:t>และจอใหญ่ที่อยู่ใกล้กัน</a:t>
            </a:r>
          </a:p>
          <a:p>
            <a:endParaRPr sz="2925" b="0">
              <a:solidFill>
                <a:srgbClr val="25343F"/>
              </a:solidFill>
              <a:latin typeface="Leelawadee UI"/>
              <a:ea typeface="Leelawadee UI"/>
              <a:cs typeface="Leelawadee UI"/>
            </a:endParaRPr>
          </a:p>
          <a:p>
            <a:pPr>
              <a:defRPr sz="29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pPr>
            <a:r>
              <a:rPr sz="29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rPr>
              <a:t>บันทึกข้อมูลไว้ตรวจย้อนหลัง</a:t>
            </a:r>
          </a:p>
          <a:p>
            <a:pPr>
              <a:defRPr sz="29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pPr>
            <a:r>
              <a:rPr sz="29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rPr>
              <a:t>เมื่อเครือข่ายหลุดยังเก็บข้อมูลค้างได้</a:t>
            </a: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5E40A3C8-C555-4945-B11E-A8EA0847D023}"/>
              </a:ext>
            </a:extLst>
          </p:cNvPr>
          <p:cNvSpPr>
            <a:spLocks noGrp="1"/>
          </p:cNvSpPr>
          <p:nvPr/>
        </p:nvSpPr>
        <p:spPr>
          <a:xfrm>
            <a:off x="857250" y="7620000"/>
            <a:ext cx="7810500" cy="1190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3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3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3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3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3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3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3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3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3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23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23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ชีพจรและ SpO₂ เป็นค่าทดลอง</a:t>
            </a:r>
          </a:p>
          <a:p>
            <a:pPr>
              <a:defRPr sz="23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23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สำหรับศึกษา ไม่ใช้วินิจฉัยโรค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3C7BF5-5845-406A-9AC0-1DEE15BBA1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494424" y="1857375"/>
            <a:ext cx="38716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39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6CDD085E-9B31-42E7-9527-DFEB39F649D8}"/>
              </a:ext>
            </a:extLst>
          </p:cNvPr>
          <p:cNvSpPr>
            <a:spLocks noGrp="1"/>
          </p:cNvSpPr>
          <p:nvPr/>
        </p:nvSpPr>
        <p:spPr>
          <a:xfrm>
            <a:off x="857250" y="476250"/>
            <a:ext cx="165735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pPr>
            <a:r>
              <a: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rPr>
              <a:t>อุปกรณ์ในต้นแบบ</a:t>
            </a:r>
          </a:p>
        </p:txBody>
      </p:sp>
      <p:sp>
        <p:nvSpPr>
          <p:cNvPr id="2" name="footer">
            <a:extLst>
              <a:ext uri="{FF2B5EF4-FFF2-40B4-BE49-F238E27FC236}">
                <a16:creationId xmlns:a16="http://schemas.microsoft.com/office/drawing/2014/main" id="{FFAE2FB4-07FB-47D7-9D2B-7FD6DFFA3C3B}"/>
              </a:ext>
            </a:extLst>
          </p:cNvPr>
          <p:cNvSpPr>
            <a:spLocks noGrp="1"/>
          </p:cNvSpPr>
          <p:nvPr/>
        </p:nvSpPr>
        <p:spPr>
          <a:xfrm>
            <a:off x="857250" y="9677400"/>
            <a:ext cx="14763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KU Watch   Final presentation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09F71EEE-C8E2-492D-B238-B6146B235BC7}"/>
              </a:ext>
            </a:extLst>
          </p:cNvPr>
          <p:cNvSpPr>
            <a:spLocks noGrp="1"/>
          </p:cNvSpPr>
          <p:nvPr/>
        </p:nvSpPr>
        <p:spPr>
          <a:xfrm>
            <a:off x="16764000" y="9677400"/>
            <a:ext cx="762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03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0F4B001-24FF-4986-BAE3-BAE276F6DCE7}"/>
              </a:ext>
            </a:extLst>
          </p:cNvPr>
          <p:cNvGraphicFramePr/>
          <p:nvPr/>
        </p:nvGraphicFramePr>
        <p:xfrm>
          <a:off x="857250" y="2190750"/>
          <a:ext cx="16573500" cy="6191250"/>
        </p:xfrm>
        <a:graphic>
          <a:graphicData uri="http://schemas.openxmlformats.org/drawingml/2006/table">
            <a:tbl>
              <a:tblPr/>
              <a:tblGrid>
                <a:gridCol w="333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0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31875">
                <a:tc>
                  <a:txBody>
                    <a:bodyPr/>
                    <a:lstStyle/>
                    <a:p>
                      <a:r>
                        <a:rPr sz="2475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ส่วนงาน</a:t>
                      </a:r>
                    </a:p>
                  </a:txBody>
                  <a:tcPr>
                    <a:lnL w="9525">
                      <a:solidFill>
                        <a:srgbClr val="D5DEE3"/>
                      </a:solidFill>
                      <a:prstDash val="soli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>
                      <a:solidFill>
                        <a:srgbClr val="D5DEE3"/>
                      </a:solidFill>
                      <a:prstDash val="soli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75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ตัวสวมใส่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>
                      <a:solidFill>
                        <a:srgbClr val="D5DEE3"/>
                      </a:solidFill>
                      <a:prstDash val="soli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75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จอใหญ่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>
                      <a:solidFill>
                        <a:srgbClr val="D5DEE3"/>
                      </a:solidFill>
                      <a:prstDash val="soli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0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1875">
                <a:tc>
                  <a:txBody>
                    <a:bodyPr/>
                    <a:lstStyle/>
                    <a:p>
                      <a:r>
                        <a:rPr sz="2475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หน่วยประมวลผล</a:t>
                      </a:r>
                    </a:p>
                  </a:txBody>
                  <a:tcPr>
                    <a:lnL w="9525">
                      <a:solidFill>
                        <a:srgbClr val="D5DEE3"/>
                      </a:solidFill>
                      <a:prstDash val="soli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75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ESP32-S3 Super Mini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75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ESP32-S3 Touch LCD 2.1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1875">
                <a:tc>
                  <a:txBody>
                    <a:bodyPr/>
                    <a:lstStyle/>
                    <a:p>
                      <a:r>
                        <a:rPr sz="2475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จอและการสั่งงาน</a:t>
                      </a:r>
                    </a:p>
                  </a:txBody>
                  <a:tcPr>
                    <a:lnL w="9525">
                      <a:solidFill>
                        <a:srgbClr val="D5DEE3"/>
                      </a:solidFill>
                      <a:prstDash val="soli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75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GC9A01A 240 × 240 และปุ่มเดียว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75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จอสัมผัส 480 × 480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1875">
                <a:tc>
                  <a:txBody>
                    <a:bodyPr/>
                    <a:lstStyle/>
                    <a:p>
                      <a:r>
                        <a:rPr sz="2475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การวัด</a:t>
                      </a:r>
                    </a:p>
                  </a:txBody>
                  <a:tcPr>
                    <a:lnL w="9525">
                      <a:solidFill>
                        <a:srgbClr val="D5DEE3"/>
                      </a:solidFill>
                      <a:prstDash val="soli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75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MAX30102, BME68x, GY-51, INA226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75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QMI8658 และสถานะจากตัวสวมใส่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1875">
                <a:tc>
                  <a:txBody>
                    <a:bodyPr/>
                    <a:lstStyle/>
                    <a:p>
                      <a:r>
                        <a:rPr sz="2475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การเก็บข้อมูล</a:t>
                      </a:r>
                    </a:p>
                  </a:txBody>
                  <a:tcPr>
                    <a:lnL w="9525">
                      <a:solidFill>
                        <a:srgbClr val="D5DEE3"/>
                      </a:solidFill>
                      <a:prstDash val="soli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75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LittleFS สำหรับข้อมูลค้างและกิจกรรม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75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MicroSD CSV และ PCF85063 RTC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31875">
                <a:tc>
                  <a:txBody>
                    <a:bodyPr/>
                    <a:lstStyle/>
                    <a:p>
                      <a:r>
                        <a:rPr sz="2475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การสื่อสาร</a:t>
                      </a:r>
                    </a:p>
                  </a:txBody>
                  <a:tcPr>
                    <a:lnL w="9525">
                      <a:solidFill>
                        <a:srgbClr val="D5DEE3"/>
                      </a:solidFill>
                      <a:prstDash val="soli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75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Wi-Fi, MQTT และ ESP-NOW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75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ESP-NOW สองทางกับตัวสวมใส่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caption">
            <a:extLst>
              <a:ext uri="{FF2B5EF4-FFF2-40B4-BE49-F238E27FC236}">
                <a16:creationId xmlns:a16="http://schemas.microsoft.com/office/drawing/2014/main" id="{89257F70-10FA-444B-B15D-0CC354B0B8DE}"/>
              </a:ext>
            </a:extLst>
          </p:cNvPr>
          <p:cNvSpPr>
            <a:spLocks noGrp="1"/>
          </p:cNvSpPr>
          <p:nvPr/>
        </p:nvSpPr>
        <p:spPr>
          <a:xfrm>
            <a:off x="857250" y="8915400"/>
            <a:ext cx="16573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ตัวเล็กใช้ GY-51 จึงรายงานความเร่งและสนามแม่เหล็กตามอุปกรณ์จริง</a:t>
            </a:r>
          </a:p>
        </p:txBody>
      </p:sp>
    </p:spTree>
    <p:extLst>
      <p:ext uri="{BB962C8B-B14F-4D97-AF65-F5344CB8AC3E}">
        <p14:creationId xmlns:p14="http://schemas.microsoft.com/office/powerpoint/2010/main" val="913262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90AF3DB3-E45B-4FF9-B4D3-AC3B74390C69}"/>
              </a:ext>
            </a:extLst>
          </p:cNvPr>
          <p:cNvSpPr>
            <a:spLocks noGrp="1"/>
          </p:cNvSpPr>
          <p:nvPr/>
        </p:nvSpPr>
        <p:spPr>
          <a:xfrm>
            <a:off x="857250" y="476250"/>
            <a:ext cx="165735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pPr>
            <a:r>
              <a: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rPr>
              <a:t>เส้นทางข้อมูลของระบบ</a:t>
            </a:r>
          </a:p>
        </p:txBody>
      </p:sp>
      <p:sp>
        <p:nvSpPr>
          <p:cNvPr id="2" name="footer">
            <a:extLst>
              <a:ext uri="{FF2B5EF4-FFF2-40B4-BE49-F238E27FC236}">
                <a16:creationId xmlns:a16="http://schemas.microsoft.com/office/drawing/2014/main" id="{85EEE3C5-40E5-4C8B-95F4-823B34DDDCDD}"/>
              </a:ext>
            </a:extLst>
          </p:cNvPr>
          <p:cNvSpPr>
            <a:spLocks noGrp="1"/>
          </p:cNvSpPr>
          <p:nvPr/>
        </p:nvSpPr>
        <p:spPr>
          <a:xfrm>
            <a:off x="857250" y="9677400"/>
            <a:ext cx="14763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KU Watch   Final presentation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C1F12D32-A85C-47CE-9E24-9601C0D75DF5}"/>
              </a:ext>
            </a:extLst>
          </p:cNvPr>
          <p:cNvSpPr>
            <a:spLocks noGrp="1"/>
          </p:cNvSpPr>
          <p:nvPr/>
        </p:nvSpPr>
        <p:spPr>
          <a:xfrm>
            <a:off x="16764000" y="9677400"/>
            <a:ext cx="762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04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3C42EA6-75B1-4F2F-B4DA-4A86DCE21ACE}"/>
              </a:ext>
            </a:extLst>
          </p:cNvPr>
          <p:cNvGraphicFramePr/>
          <p:nvPr/>
        </p:nvGraphicFramePr>
        <p:xfrm>
          <a:off x="857250" y="2095500"/>
          <a:ext cx="16573500" cy="6000750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6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00125">
                <a:tc>
                  <a:txBody>
                    <a:bodyPr/>
                    <a:lstStyle/>
                    <a:p>
                      <a:r>
                        <a:rPr sz="2550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ลำดับ</a:t>
                      </a:r>
                    </a:p>
                  </a:txBody>
                  <a:tcPr>
                    <a:lnL w="9525">
                      <a:solidFill>
                        <a:srgbClr val="D5DEE3"/>
                      </a:solidFill>
                      <a:prstDash val="soli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>
                      <a:solidFill>
                        <a:srgbClr val="D5DEE3"/>
                      </a:solidFill>
                      <a:prstDash val="soli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องค์ประกอบ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>
                      <a:solidFill>
                        <a:srgbClr val="D5DEE3"/>
                      </a:solidFill>
                      <a:prstDash val="soli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หน้าที่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>
                      <a:solidFill>
                        <a:srgbClr val="D5DEE3"/>
                      </a:solidFill>
                      <a:prstDash val="soli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0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0125">
                <a:tc>
                  <a:txBody>
                    <a:bodyPr/>
                    <a:lstStyle/>
                    <a:p>
                      <a:r>
                        <a:rPr sz="2550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</a:t>
                      </a:r>
                    </a:p>
                  </a:txBody>
                  <a:tcPr>
                    <a:lnL w="9525">
                      <a:solidFill>
                        <a:srgbClr val="D5DEE3"/>
                      </a:solidFill>
                      <a:prstDash val="soli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KU Watch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อ่านเซ็นเซอร์และสร้าง sample_id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0125">
                <a:tc>
                  <a:txBody>
                    <a:bodyPr/>
                    <a:lstStyle/>
                    <a:p>
                      <a:r>
                        <a:rPr sz="2550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2</a:t>
                      </a:r>
                    </a:p>
                  </a:txBody>
                  <a:tcPr>
                    <a:lnL w="9525">
                      <a:solidFill>
                        <a:srgbClr val="D5DEE3"/>
                      </a:solidFill>
                      <a:prstDash val="soli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HiveMQ Cloud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รับ JSON ผ่าน MQTT over TLS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0125">
                <a:tc>
                  <a:txBody>
                    <a:bodyPr/>
                    <a:lstStyle/>
                    <a:p>
                      <a:r>
                        <a:rPr sz="2550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3</a:t>
                      </a:r>
                    </a:p>
                  </a:txBody>
                  <a:tcPr>
                    <a:lnL w="9525">
                      <a:solidFill>
                        <a:srgbClr val="D5DEE3"/>
                      </a:solidFill>
                      <a:prstDash val="soli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Node-RED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แยกข้อมูลสด ข้อมูลย้อนหลัง และเหตุเตือน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0125">
                <a:tc>
                  <a:txBody>
                    <a:bodyPr/>
                    <a:lstStyle/>
                    <a:p>
                      <a:r>
                        <a:rPr sz="2550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4</a:t>
                      </a:r>
                    </a:p>
                  </a:txBody>
                  <a:tcPr>
                    <a:lnL w="9525">
                      <a:solidFill>
                        <a:srgbClr val="D5DEE3"/>
                      </a:solidFill>
                      <a:prstDash val="soli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InfluxDB และคิวเขียนข้อมูล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เก็บข้อมูลตามเวลาและรอเขียนเมื่อปลายทางไม่พร้อม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00125">
                <a:tc>
                  <a:txBody>
                    <a:bodyPr/>
                    <a:lstStyle/>
                    <a:p>
                      <a:r>
                        <a:rPr sz="2550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5</a:t>
                      </a:r>
                    </a:p>
                  </a:txBody>
                  <a:tcPr>
                    <a:lnL w="9525">
                      <a:solidFill>
                        <a:srgbClr val="D5DEE3"/>
                      </a:solidFill>
                      <a:prstDash val="soli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Grafana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แสดงค่าล่าสุดและกราฟย้อนหลัง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caption">
            <a:extLst>
              <a:ext uri="{FF2B5EF4-FFF2-40B4-BE49-F238E27FC236}">
                <a16:creationId xmlns:a16="http://schemas.microsoft.com/office/drawing/2014/main" id="{685CB386-B48F-420E-8CDC-8ACBF0B932D2}"/>
              </a:ext>
            </a:extLst>
          </p:cNvPr>
          <p:cNvSpPr>
            <a:spLocks noGrp="1"/>
          </p:cNvSpPr>
          <p:nvPr/>
        </p:nvSpPr>
        <p:spPr>
          <a:xfrm>
            <a:off x="857250" y="8915400"/>
            <a:ext cx="16573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จอใหญ่รับข้อมูลใกล้ตัวผ่าน ESP-NOW และบันทึก CSV แยกจากเส้นทางฐานข้อมูล</a:t>
            </a:r>
          </a:p>
        </p:txBody>
      </p:sp>
    </p:spTree>
    <p:extLst>
      <p:ext uri="{BB962C8B-B14F-4D97-AF65-F5344CB8AC3E}">
        <p14:creationId xmlns:p14="http://schemas.microsoft.com/office/powerpoint/2010/main" val="652589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690106A9-E60E-488E-8084-28E3054FD0A7}"/>
              </a:ext>
            </a:extLst>
          </p:cNvPr>
          <p:cNvSpPr>
            <a:spLocks noGrp="1"/>
          </p:cNvSpPr>
          <p:nvPr/>
        </p:nvSpPr>
        <p:spPr>
          <a:xfrm>
            <a:off x="857250" y="476250"/>
            <a:ext cx="165735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pPr>
            <a:r>
              <a: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rPr>
              <a:t>การออกแบบตัวเรือน</a:t>
            </a:r>
          </a:p>
        </p:txBody>
      </p:sp>
      <p:sp>
        <p:nvSpPr>
          <p:cNvPr id="2" name="footer">
            <a:extLst>
              <a:ext uri="{FF2B5EF4-FFF2-40B4-BE49-F238E27FC236}">
                <a16:creationId xmlns:a16="http://schemas.microsoft.com/office/drawing/2014/main" id="{2AC8E9EB-FCD3-46A6-94E8-4930FCD24C6F}"/>
              </a:ext>
            </a:extLst>
          </p:cNvPr>
          <p:cNvSpPr>
            <a:spLocks noGrp="1"/>
          </p:cNvSpPr>
          <p:nvPr/>
        </p:nvSpPr>
        <p:spPr>
          <a:xfrm>
            <a:off x="857250" y="9677400"/>
            <a:ext cx="14763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KU Watch   Final presentation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605BAC81-17D8-4626-980E-42900459439F}"/>
              </a:ext>
            </a:extLst>
          </p:cNvPr>
          <p:cNvSpPr>
            <a:spLocks noGrp="1"/>
          </p:cNvSpPr>
          <p:nvPr/>
        </p:nvSpPr>
        <p:spPr>
          <a:xfrm>
            <a:off x="16764000" y="9677400"/>
            <a:ext cx="762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05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8E5597-DAD5-43B7-8822-5D9468103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184744" y="1857375"/>
            <a:ext cx="11918512" cy="6429375"/>
          </a:xfrm>
          <a:prstGeom prst="rect">
            <a:avLst/>
          </a:prstGeom>
        </p:spPr>
      </p:pic>
      <p:sp>
        <p:nvSpPr>
          <p:cNvPr id="5" name="caption">
            <a:extLst>
              <a:ext uri="{FF2B5EF4-FFF2-40B4-BE49-F238E27FC236}">
                <a16:creationId xmlns:a16="http://schemas.microsoft.com/office/drawing/2014/main" id="{4A51732D-8FA5-472A-8B0A-E310D6855F46}"/>
              </a:ext>
            </a:extLst>
          </p:cNvPr>
          <p:cNvSpPr>
            <a:spLocks noGrp="1"/>
          </p:cNvSpPr>
          <p:nvPr/>
        </p:nvSpPr>
        <p:spPr>
          <a:xfrm>
            <a:off x="857250" y="8915400"/>
            <a:ext cx="16573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เปรียบเทียบแบบเริ่มต้นกับแบบปรับการจัดวางใน SolidWorks</a:t>
            </a:r>
          </a:p>
        </p:txBody>
      </p:sp>
    </p:spTree>
    <p:extLst>
      <p:ext uri="{BB962C8B-B14F-4D97-AF65-F5344CB8AC3E}">
        <p14:creationId xmlns:p14="http://schemas.microsoft.com/office/powerpoint/2010/main" val="101096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40E7253A-388A-4C05-B182-B2BEC08DA708}"/>
              </a:ext>
            </a:extLst>
          </p:cNvPr>
          <p:cNvSpPr>
            <a:spLocks noGrp="1"/>
          </p:cNvSpPr>
          <p:nvPr/>
        </p:nvSpPr>
        <p:spPr>
          <a:xfrm>
            <a:off x="857250" y="476250"/>
            <a:ext cx="165735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pPr>
            <a:r>
              <a: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rPr>
              <a:t>การจัดวางโมดูลและการประกอบ</a:t>
            </a:r>
          </a:p>
        </p:txBody>
      </p:sp>
      <p:sp>
        <p:nvSpPr>
          <p:cNvPr id="2" name="footer">
            <a:extLst>
              <a:ext uri="{FF2B5EF4-FFF2-40B4-BE49-F238E27FC236}">
                <a16:creationId xmlns:a16="http://schemas.microsoft.com/office/drawing/2014/main" id="{62CB95B3-8422-46CB-839A-57515B5138D1}"/>
              </a:ext>
            </a:extLst>
          </p:cNvPr>
          <p:cNvSpPr>
            <a:spLocks noGrp="1"/>
          </p:cNvSpPr>
          <p:nvPr/>
        </p:nvSpPr>
        <p:spPr>
          <a:xfrm>
            <a:off x="857250" y="9677400"/>
            <a:ext cx="14763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KU Watch   Final presentation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0DADD6A8-1C1C-4311-AC4A-A9832A060794}"/>
              </a:ext>
            </a:extLst>
          </p:cNvPr>
          <p:cNvSpPr>
            <a:spLocks noGrp="1"/>
          </p:cNvSpPr>
          <p:nvPr/>
        </p:nvSpPr>
        <p:spPr>
          <a:xfrm>
            <a:off x="16764000" y="9677400"/>
            <a:ext cx="762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06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2A5AF6-1C88-45DD-8E11-B33DF2E02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95375" y="1952625"/>
            <a:ext cx="4429125" cy="5905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7606A42-A213-4B50-AC16-ECFFB85129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429375" y="1952625"/>
            <a:ext cx="4429125" cy="5905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9FA9AF8-0BE7-4791-A52A-BFEB39DAFD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525250" y="3243633"/>
            <a:ext cx="5905500" cy="3323484"/>
          </a:xfrm>
          <a:prstGeom prst="rect">
            <a:avLst/>
          </a:prstGeom>
        </p:spPr>
      </p:pic>
      <p:sp>
        <p:nvSpPr>
          <p:cNvPr id="7" name="caption">
            <a:extLst>
              <a:ext uri="{FF2B5EF4-FFF2-40B4-BE49-F238E27FC236}">
                <a16:creationId xmlns:a16="http://schemas.microsoft.com/office/drawing/2014/main" id="{D6206B60-AFD4-4C8F-B2A7-2BDD8BE2FF44}"/>
              </a:ext>
            </a:extLst>
          </p:cNvPr>
          <p:cNvSpPr>
            <a:spLocks noGrp="1"/>
          </p:cNvSpPr>
          <p:nvPr/>
        </p:nvSpPr>
        <p:spPr>
          <a:xfrm>
            <a:off x="857250" y="8915400"/>
            <a:ext cx="16573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แยกพื้นที่เซ็นเซอร์ แบตเตอรี่ และชุดสายเพื่อทดสอบก่อนปิดตัวเรือน</a:t>
            </a:r>
          </a:p>
        </p:txBody>
      </p:sp>
    </p:spTree>
    <p:extLst>
      <p:ext uri="{BB962C8B-B14F-4D97-AF65-F5344CB8AC3E}">
        <p14:creationId xmlns:p14="http://schemas.microsoft.com/office/powerpoint/2010/main" val="431565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670AC24E-3A8A-4979-AEF6-35AE4261078C}"/>
              </a:ext>
            </a:extLst>
          </p:cNvPr>
          <p:cNvSpPr>
            <a:spLocks noGrp="1"/>
          </p:cNvSpPr>
          <p:nvPr/>
        </p:nvSpPr>
        <p:spPr>
          <a:xfrm>
            <a:off x="857250" y="476250"/>
            <a:ext cx="165735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pPr>
            <a:r>
              <a: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rPr>
              <a:t>ผลอ่านเซ็นเซอร์และอัปเดตจอ</a:t>
            </a:r>
          </a:p>
        </p:txBody>
      </p:sp>
      <p:sp>
        <p:nvSpPr>
          <p:cNvPr id="2" name="footer">
            <a:extLst>
              <a:ext uri="{FF2B5EF4-FFF2-40B4-BE49-F238E27FC236}">
                <a16:creationId xmlns:a16="http://schemas.microsoft.com/office/drawing/2014/main" id="{B48094F0-182A-448E-9884-17F53244D0C8}"/>
              </a:ext>
            </a:extLst>
          </p:cNvPr>
          <p:cNvSpPr>
            <a:spLocks noGrp="1"/>
          </p:cNvSpPr>
          <p:nvPr/>
        </p:nvSpPr>
        <p:spPr>
          <a:xfrm>
            <a:off x="857250" y="9677400"/>
            <a:ext cx="14763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KU Watch   Final presentation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69388142-9F33-46E8-BCE5-E6CDBEEFD727}"/>
              </a:ext>
            </a:extLst>
          </p:cNvPr>
          <p:cNvSpPr>
            <a:spLocks noGrp="1"/>
          </p:cNvSpPr>
          <p:nvPr/>
        </p:nvSpPr>
        <p:spPr>
          <a:xfrm>
            <a:off x="16764000" y="9677400"/>
            <a:ext cx="762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07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93334C0-8CC2-4F9E-B2C9-DF1136099196}"/>
              </a:ext>
            </a:extLst>
          </p:cNvPr>
          <p:cNvGraphicFramePr/>
          <p:nvPr/>
        </p:nvGraphicFramePr>
        <p:xfrm>
          <a:off x="8858250" y="2143125"/>
          <a:ext cx="8572500" cy="5429250"/>
        </p:xfrm>
        <a:graphic>
          <a:graphicData uri="http://schemas.openxmlformats.org/drawingml/2006/table">
            <a:tbl>
              <a:tblPr/>
              <a:tblGrid>
                <a:gridCol w="485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04875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รายการ</a:t>
                      </a:r>
                    </a:p>
                  </a:txBody>
                  <a:tcPr>
                    <a:lnL w="9525">
                      <a:solidFill>
                        <a:srgbClr val="D5DEE3"/>
                      </a:solidFill>
                      <a:prstDash val="soli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>
                      <a:solidFill>
                        <a:srgbClr val="D5DEE3"/>
                      </a:solidFill>
                      <a:prstDash val="soli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ผลรอบตรวจรับ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>
                      <a:solidFill>
                        <a:srgbClr val="D5DEE3"/>
                      </a:solidFill>
                      <a:prstDash val="soli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0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4875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BPM / SpO₂ valid ต่อเนื่อง</a:t>
                      </a:r>
                    </a:p>
                  </a:txBody>
                  <a:tcPr>
                    <a:lnL w="9525">
                      <a:solidFill>
                        <a:srgbClr val="D5DEE3"/>
                      </a:solidFill>
                      <a:prstDash val="soli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69.704 s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4875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การอ่าน PPG</a:t>
                      </a:r>
                    </a:p>
                  </a:txBody>
                  <a:tcPr>
                    <a:lnL w="9525">
                      <a:solidFill>
                        <a:srgbClr val="D5DEE3"/>
                      </a:solidFill>
                      <a:prstDash val="soli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24.916 Hz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4875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การอ่าน motion</a:t>
                      </a:r>
                    </a:p>
                  </a:txBody>
                  <a:tcPr>
                    <a:lnL w="9525">
                      <a:solidFill>
                        <a:srgbClr val="D5DEE3"/>
                      </a:solidFill>
                      <a:prstDash val="soli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1.759 Hz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4875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อัปเดตจอเสร็จ</a:t>
                      </a:r>
                    </a:p>
                  </a:txBody>
                  <a:tcPr>
                    <a:lnL w="9525">
                      <a:solidFill>
                        <a:srgbClr val="D5DEE3"/>
                      </a:solidFill>
                      <a:prstDash val="soli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5.321 ครั้ง/s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04875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ขอบเขตบนช่วงอัปเดต</a:t>
                      </a:r>
                    </a:p>
                  </a:txBody>
                  <a:tcPr>
                    <a:lnL w="9525">
                      <a:solidFill>
                        <a:srgbClr val="D5DEE3"/>
                      </a:solidFill>
                      <a:prstDash val="soli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861 ms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caption">
            <a:extLst>
              <a:ext uri="{FF2B5EF4-FFF2-40B4-BE49-F238E27FC236}">
                <a16:creationId xmlns:a16="http://schemas.microsoft.com/office/drawing/2014/main" id="{C929CFD6-9564-4DB0-A3B1-D37ADE8CC31E}"/>
              </a:ext>
            </a:extLst>
          </p:cNvPr>
          <p:cNvSpPr>
            <a:spLocks noGrp="1"/>
          </p:cNvSpPr>
          <p:nvPr/>
        </p:nvSpPr>
        <p:spPr>
          <a:xfrm>
            <a:off x="857250" y="8915400"/>
            <a:ext cx="16573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ผล USB รอบ 16 ต.ค. 2026 รุ่น 2.0.15   ภาพคลิปประกอบเป็นคนละช่วงทดสอบ</a:t>
            </a:r>
          </a:p>
        </p:txBody>
      </p:sp>
      <p:pic>
        <p:nvPicPr>
          <p:cNvPr id="8" name="Original recording pulse-demo.mp4">
            <a:hlinkClick action="ppaction://media"/>
            <a:extLst>
              <a:ext uri="{FF2B5EF4-FFF2-40B4-BE49-F238E27FC236}">
                <a16:creationId xmlns:a16="http://schemas.microsoft.com/office/drawing/2014/main" id="{31094E78-FC19-E0DF-B684-14E8407C58C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57250" y="2792016"/>
            <a:ext cx="7429500" cy="4179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45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2C415172-6F23-408D-A1AD-05420348B9A3}"/>
              </a:ext>
            </a:extLst>
          </p:cNvPr>
          <p:cNvSpPr>
            <a:spLocks noGrp="1"/>
          </p:cNvSpPr>
          <p:nvPr/>
        </p:nvSpPr>
        <p:spPr>
          <a:xfrm>
            <a:off x="857250" y="476250"/>
            <a:ext cx="165735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pPr>
            <a:r>
              <a: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rPr>
              <a:t>เมนูและการแสดงผลสองจอ</a:t>
            </a:r>
          </a:p>
        </p:txBody>
      </p:sp>
      <p:sp>
        <p:nvSpPr>
          <p:cNvPr id="2" name="footer">
            <a:extLst>
              <a:ext uri="{FF2B5EF4-FFF2-40B4-BE49-F238E27FC236}">
                <a16:creationId xmlns:a16="http://schemas.microsoft.com/office/drawing/2014/main" id="{B0576482-EA83-4CCF-A304-3176F57502A6}"/>
              </a:ext>
            </a:extLst>
          </p:cNvPr>
          <p:cNvSpPr>
            <a:spLocks noGrp="1"/>
          </p:cNvSpPr>
          <p:nvPr/>
        </p:nvSpPr>
        <p:spPr>
          <a:xfrm>
            <a:off x="857250" y="9677400"/>
            <a:ext cx="14763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KU Watch   Final presentation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C25B1773-492A-480A-A7FD-FBB124A8C03F}"/>
              </a:ext>
            </a:extLst>
          </p:cNvPr>
          <p:cNvSpPr>
            <a:spLocks noGrp="1"/>
          </p:cNvSpPr>
          <p:nvPr/>
        </p:nvSpPr>
        <p:spPr>
          <a:xfrm>
            <a:off x="16764000" y="9677400"/>
            <a:ext cx="762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08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865146-911A-4A8C-AF93-B41CE85E6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02531" y="1952625"/>
            <a:ext cx="4643438" cy="61912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E3840CD-CF2F-4A6A-AACE-65558EBF49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22281" y="1952625"/>
            <a:ext cx="4643438" cy="61912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D76816E-C8EA-4224-AB00-7403BEADF2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2442031" y="1952625"/>
            <a:ext cx="4643438" cy="6191250"/>
          </a:xfrm>
          <a:prstGeom prst="rect">
            <a:avLst/>
          </a:prstGeom>
        </p:spPr>
      </p:pic>
      <p:sp>
        <p:nvSpPr>
          <p:cNvPr id="7" name="caption">
            <a:extLst>
              <a:ext uri="{FF2B5EF4-FFF2-40B4-BE49-F238E27FC236}">
                <a16:creationId xmlns:a16="http://schemas.microsoft.com/office/drawing/2014/main" id="{B95E7345-292D-48D5-AADB-A2F6C9D9840D}"/>
              </a:ext>
            </a:extLst>
          </p:cNvPr>
          <p:cNvSpPr>
            <a:spLocks noGrp="1"/>
          </p:cNvSpPr>
          <p:nvPr/>
        </p:nvSpPr>
        <p:spPr>
          <a:xfrm>
            <a:off x="857250" y="8915400"/>
            <a:ext cx="16573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หน้าหลัก สถานะระบบ และปรับความสว่างของจอสัมผัส</a:t>
            </a:r>
          </a:p>
        </p:txBody>
      </p:sp>
    </p:spTree>
    <p:extLst>
      <p:ext uri="{BB962C8B-B14F-4D97-AF65-F5344CB8AC3E}">
        <p14:creationId xmlns:p14="http://schemas.microsoft.com/office/powerpoint/2010/main" val="1698796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1CD56ABC-E064-4C77-B28A-B5401756936C}"/>
              </a:ext>
            </a:extLst>
          </p:cNvPr>
          <p:cNvSpPr>
            <a:spLocks noGrp="1"/>
          </p:cNvSpPr>
          <p:nvPr/>
        </p:nvSpPr>
        <p:spPr>
          <a:xfrm>
            <a:off x="857250" y="476250"/>
            <a:ext cx="165735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pPr>
            <a:r>
              <a: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rPr>
              <a:t>MQTT และการรับข้อมูล</a:t>
            </a:r>
          </a:p>
        </p:txBody>
      </p:sp>
      <p:sp>
        <p:nvSpPr>
          <p:cNvPr id="2" name="footer">
            <a:extLst>
              <a:ext uri="{FF2B5EF4-FFF2-40B4-BE49-F238E27FC236}">
                <a16:creationId xmlns:a16="http://schemas.microsoft.com/office/drawing/2014/main" id="{2D10AB74-0C29-4430-B4B6-C190B6645640}"/>
              </a:ext>
            </a:extLst>
          </p:cNvPr>
          <p:cNvSpPr>
            <a:spLocks noGrp="1"/>
          </p:cNvSpPr>
          <p:nvPr/>
        </p:nvSpPr>
        <p:spPr>
          <a:xfrm>
            <a:off x="857250" y="9677400"/>
            <a:ext cx="14763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KU Watch   Final presentation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BEC472B7-2CF7-407D-82B1-05B5928AFEED}"/>
              </a:ext>
            </a:extLst>
          </p:cNvPr>
          <p:cNvSpPr>
            <a:spLocks noGrp="1"/>
          </p:cNvSpPr>
          <p:nvPr/>
        </p:nvSpPr>
        <p:spPr>
          <a:xfrm>
            <a:off x="16764000" y="9677400"/>
            <a:ext cx="762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09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6BA171-DCC4-46F9-9758-F906FAC67E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20511" y="2095500"/>
            <a:ext cx="9741477" cy="5953125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9DA3780-D448-4077-98E8-26A2885E394F}"/>
              </a:ext>
            </a:extLst>
          </p:cNvPr>
          <p:cNvGraphicFramePr/>
          <p:nvPr/>
        </p:nvGraphicFramePr>
        <p:xfrm>
          <a:off x="12096750" y="2095500"/>
          <a:ext cx="5334000" cy="5953125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92188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รอบทดสอบ</a:t>
                      </a:r>
                    </a:p>
                  </a:txBody>
                  <a:tcPr>
                    <a:lnL w="9525">
                      <a:solidFill>
                        <a:srgbClr val="D5DEE3"/>
                      </a:solidFill>
                      <a:prstDash val="soli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>
                      <a:solidFill>
                        <a:srgbClr val="D5DEE3"/>
                      </a:solidFill>
                      <a:prstDash val="soli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ผล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>
                      <a:solidFill>
                        <a:srgbClr val="D5DEE3"/>
                      </a:solidFill>
                      <a:prstDash val="soli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0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2188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ช่วงรับ</a:t>
                      </a:r>
                    </a:p>
                  </a:txBody>
                  <a:tcPr>
                    <a:lnL w="9525">
                      <a:solidFill>
                        <a:srgbClr val="D5DEE3"/>
                      </a:solidFill>
                      <a:prstDash val="soli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300 s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2188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ข้อมูลสด</a:t>
                      </a:r>
                    </a:p>
                  </a:txBody>
                  <a:tcPr>
                    <a:lnL w="9525">
                      <a:solidFill>
                        <a:srgbClr val="D5DEE3"/>
                      </a:solidFill>
                      <a:prstDash val="soli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300 / 300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2188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ลำดับที่ขาด</a:t>
                      </a:r>
                    </a:p>
                  </a:txBody>
                  <a:tcPr>
                    <a:lnL w="9525">
                      <a:solidFill>
                        <a:srgbClr val="D5DEE3"/>
                      </a:solidFill>
                      <a:prstDash val="soli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2188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QoS</a:t>
                      </a:r>
                    </a:p>
                  </a:txBody>
                  <a:tcPr>
                    <a:lnL w="9525">
                      <a:solidFill>
                        <a:srgbClr val="D5DEE3"/>
                      </a:solidFill>
                      <a:prstDash val="soli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92188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LWT</a:t>
                      </a:r>
                    </a:p>
                  </a:txBody>
                  <a:tcPr>
                    <a:lnL w="9525">
                      <a:solidFill>
                        <a:srgbClr val="D5DEE3"/>
                      </a:solidFill>
                      <a:prstDash val="soli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ตรวจพบ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caption">
            <a:extLst>
              <a:ext uri="{FF2B5EF4-FFF2-40B4-BE49-F238E27FC236}">
                <a16:creationId xmlns:a16="http://schemas.microsoft.com/office/drawing/2014/main" id="{5BC204E8-47B6-4503-BC05-C7774016A57B}"/>
              </a:ext>
            </a:extLst>
          </p:cNvPr>
          <p:cNvSpPr>
            <a:spLocks noGrp="1"/>
          </p:cNvSpPr>
          <p:nvPr/>
        </p:nvSpPr>
        <p:spPr>
          <a:xfrm>
            <a:off x="857250" y="8915400"/>
            <a:ext cx="16573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topic: ku/iot/ku_watch/ku-watch-449205d4/env</a:t>
            </a:r>
          </a:p>
        </p:txBody>
      </p:sp>
    </p:spTree>
    <p:extLst>
      <p:ext uri="{BB962C8B-B14F-4D97-AF65-F5344CB8AC3E}">
        <p14:creationId xmlns:p14="http://schemas.microsoft.com/office/powerpoint/2010/main" val="9141055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B9A8315C-8BEF-4B27-BE98-11756E2D07C0}"/>
              </a:ext>
            </a:extLst>
          </p:cNvPr>
          <p:cNvSpPr>
            <a:spLocks noGrp="1"/>
          </p:cNvSpPr>
          <p:nvPr/>
        </p:nvSpPr>
        <p:spPr>
          <a:xfrm>
            <a:off x="857250" y="476250"/>
            <a:ext cx="165735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pPr>
            <a:r>
              <a: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rPr>
              <a:t>ข้อมูลที่บันทึกใน InfluxDB</a:t>
            </a:r>
          </a:p>
        </p:txBody>
      </p:sp>
      <p:sp>
        <p:nvSpPr>
          <p:cNvPr id="2" name="footer">
            <a:extLst>
              <a:ext uri="{FF2B5EF4-FFF2-40B4-BE49-F238E27FC236}">
                <a16:creationId xmlns:a16="http://schemas.microsoft.com/office/drawing/2014/main" id="{E82B318F-5BDE-434B-9939-F335DDCBA323}"/>
              </a:ext>
            </a:extLst>
          </p:cNvPr>
          <p:cNvSpPr>
            <a:spLocks noGrp="1"/>
          </p:cNvSpPr>
          <p:nvPr/>
        </p:nvSpPr>
        <p:spPr>
          <a:xfrm>
            <a:off x="857250" y="9677400"/>
            <a:ext cx="14763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KU Watch   Final presentation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5E2D44BB-5D2E-4A10-972B-61463043A771}"/>
              </a:ext>
            </a:extLst>
          </p:cNvPr>
          <p:cNvSpPr>
            <a:spLocks noGrp="1"/>
          </p:cNvSpPr>
          <p:nvPr/>
        </p:nvSpPr>
        <p:spPr>
          <a:xfrm>
            <a:off x="16764000" y="9677400"/>
            <a:ext cx="762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10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CA372C-3466-4620-90AC-DB6F3C5C6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65489" y="2095500"/>
            <a:ext cx="7879773" cy="61912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5D016F9-F0A9-4C0E-9251-6646A3117D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715500" y="3456214"/>
            <a:ext cx="7715250" cy="2755446"/>
          </a:xfrm>
          <a:prstGeom prst="rect">
            <a:avLst/>
          </a:prstGeom>
        </p:spPr>
      </p:pic>
      <p:sp>
        <p:nvSpPr>
          <p:cNvPr id="6" name="caption">
            <a:extLst>
              <a:ext uri="{FF2B5EF4-FFF2-40B4-BE49-F238E27FC236}">
                <a16:creationId xmlns:a16="http://schemas.microsoft.com/office/drawing/2014/main" id="{0ACDCBDD-AC22-491C-951A-7572C19B7740}"/>
              </a:ext>
            </a:extLst>
          </p:cNvPr>
          <p:cNvSpPr>
            <a:spLocks noGrp="1"/>
          </p:cNvSpPr>
          <p:nvPr/>
        </p:nvSpPr>
        <p:spPr>
          <a:xfrm>
            <a:off x="857250" y="8915400"/>
            <a:ext cx="16573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ตัวอย่างผล query ที่บันทึกจากระบบจริงวันที่ 16 ต.ค. 2026</a:t>
            </a:r>
          </a:p>
        </p:txBody>
      </p:sp>
    </p:spTree>
    <p:extLst>
      <p:ext uri="{BB962C8B-B14F-4D97-AF65-F5344CB8AC3E}">
        <p14:creationId xmlns:p14="http://schemas.microsoft.com/office/powerpoint/2010/main" val="9006675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597595D7-B06F-436D-A995-350F60407F73}"/>
              </a:ext>
            </a:extLst>
          </p:cNvPr>
          <p:cNvSpPr>
            <a:spLocks noGrp="1"/>
          </p:cNvSpPr>
          <p:nvPr/>
        </p:nvSpPr>
        <p:spPr>
          <a:xfrm>
            <a:off x="857250" y="476250"/>
            <a:ext cx="165735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pPr>
            <a:r>
              <a: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rPr>
              <a:t>การดูแนวโน้มใน Grafana</a:t>
            </a:r>
          </a:p>
        </p:txBody>
      </p:sp>
      <p:sp>
        <p:nvSpPr>
          <p:cNvPr id="2" name="footer">
            <a:extLst>
              <a:ext uri="{FF2B5EF4-FFF2-40B4-BE49-F238E27FC236}">
                <a16:creationId xmlns:a16="http://schemas.microsoft.com/office/drawing/2014/main" id="{C0E02168-0CA3-4CAB-8F9D-482DA85170A5}"/>
              </a:ext>
            </a:extLst>
          </p:cNvPr>
          <p:cNvSpPr>
            <a:spLocks noGrp="1"/>
          </p:cNvSpPr>
          <p:nvPr/>
        </p:nvSpPr>
        <p:spPr>
          <a:xfrm>
            <a:off x="857250" y="9677400"/>
            <a:ext cx="14763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KU Watch   Final presentation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6D5494E3-06F0-4F6A-9505-C74D80F85F24}"/>
              </a:ext>
            </a:extLst>
          </p:cNvPr>
          <p:cNvSpPr>
            <a:spLocks noGrp="1"/>
          </p:cNvSpPr>
          <p:nvPr/>
        </p:nvSpPr>
        <p:spPr>
          <a:xfrm>
            <a:off x="16764000" y="9677400"/>
            <a:ext cx="762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11</a:t>
            </a:r>
          </a:p>
        </p:txBody>
      </p:sp>
      <p:sp>
        <p:nvSpPr>
          <p:cNvPr id="5" name="caption">
            <a:extLst>
              <a:ext uri="{FF2B5EF4-FFF2-40B4-BE49-F238E27FC236}">
                <a16:creationId xmlns:a16="http://schemas.microsoft.com/office/drawing/2014/main" id="{DF8BD453-FD5F-494A-A2B6-C4FC41223729}"/>
              </a:ext>
            </a:extLst>
          </p:cNvPr>
          <p:cNvSpPr>
            <a:spLocks noGrp="1"/>
          </p:cNvSpPr>
          <p:nvPr/>
        </p:nvSpPr>
        <p:spPr>
          <a:xfrm>
            <a:off x="857250" y="8915400"/>
            <a:ext cx="16573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ภาพที่บันทึกจริงวันที่ 16 ต.ค. 2026   คลิปข้อมูลไหลอยู่ในวิดีโอสาธิต</a:t>
            </a:r>
          </a:p>
        </p:txBody>
      </p:sp>
      <p:pic>
        <p:nvPicPr>
          <p:cNvPr id="7" name="Original recording grafana-live-60s.mp4">
            <a:hlinkClick action="ppaction://media"/>
            <a:extLst>
              <a:ext uri="{FF2B5EF4-FFF2-40B4-BE49-F238E27FC236}">
                <a16:creationId xmlns:a16="http://schemas.microsoft.com/office/drawing/2014/main" id="{4857EF68-713D-6BB3-7459-F57D124B346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657600" y="1762125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7142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6F1B8C3D-E907-49F4-AE4A-66D92D94A9BB}"/>
              </a:ext>
            </a:extLst>
          </p:cNvPr>
          <p:cNvSpPr>
            <a:spLocks noGrp="1"/>
          </p:cNvSpPr>
          <p:nvPr/>
        </p:nvSpPr>
        <p:spPr>
          <a:xfrm>
            <a:off x="857250" y="476250"/>
            <a:ext cx="165735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pPr>
            <a:r>
              <a: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rPr>
              <a:t>การเก็บข้อมูลขณะเครือข่ายหลุด</a:t>
            </a:r>
          </a:p>
        </p:txBody>
      </p:sp>
      <p:sp>
        <p:nvSpPr>
          <p:cNvPr id="2" name="footer">
            <a:extLst>
              <a:ext uri="{FF2B5EF4-FFF2-40B4-BE49-F238E27FC236}">
                <a16:creationId xmlns:a16="http://schemas.microsoft.com/office/drawing/2014/main" id="{79484498-9156-481A-9683-A53E97D147CF}"/>
              </a:ext>
            </a:extLst>
          </p:cNvPr>
          <p:cNvSpPr>
            <a:spLocks noGrp="1"/>
          </p:cNvSpPr>
          <p:nvPr/>
        </p:nvSpPr>
        <p:spPr>
          <a:xfrm>
            <a:off x="857250" y="9677400"/>
            <a:ext cx="14763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KU Watch   Final presentation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D727EBDF-28C6-470C-A096-1B3542037683}"/>
              </a:ext>
            </a:extLst>
          </p:cNvPr>
          <p:cNvSpPr>
            <a:spLocks noGrp="1"/>
          </p:cNvSpPr>
          <p:nvPr/>
        </p:nvSpPr>
        <p:spPr>
          <a:xfrm>
            <a:off x="16764000" y="9677400"/>
            <a:ext cx="762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12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5CA4430-F8D0-4C87-9F6C-ED56BB8040A7}"/>
              </a:ext>
            </a:extLst>
          </p:cNvPr>
          <p:cNvGraphicFramePr/>
          <p:nvPr/>
        </p:nvGraphicFramePr>
        <p:xfrm>
          <a:off x="857250" y="2524125"/>
          <a:ext cx="16573500" cy="4762500"/>
        </p:xfrm>
        <a:graphic>
          <a:graphicData uri="http://schemas.openxmlformats.org/drawingml/2006/table">
            <a:tbl>
              <a:tblPr/>
              <a:tblGrid>
                <a:gridCol w="400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6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90625">
                <a:tc>
                  <a:txBody>
                    <a:bodyPr/>
                    <a:lstStyle/>
                    <a:p>
                      <a:r>
                        <a:rPr sz="2700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ช่วงทดสอบ</a:t>
                      </a:r>
                    </a:p>
                  </a:txBody>
                  <a:tcPr>
                    <a:lnL w="9525">
                      <a:solidFill>
                        <a:srgbClr val="D5DEE3"/>
                      </a:solidFill>
                      <a:prstDash val="soli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>
                      <a:solidFill>
                        <a:srgbClr val="D5DEE3"/>
                      </a:solidFill>
                      <a:prstDash val="soli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700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สิ่งที่เกิดขึ้น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>
                      <a:solidFill>
                        <a:srgbClr val="D5DEE3"/>
                      </a:solidFill>
                      <a:prstDash val="soli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700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ผลตรวจ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>
                      <a:solidFill>
                        <a:srgbClr val="D5DEE3"/>
                      </a:solidFill>
                      <a:prstDash val="soli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0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0625">
                <a:tc>
                  <a:txBody>
                    <a:bodyPr/>
                    <a:lstStyle/>
                    <a:p>
                      <a:r>
                        <a:rPr sz="2700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ตัด Wi-Fi</a:t>
                      </a:r>
                    </a:p>
                  </a:txBody>
                  <a:tcPr>
                    <a:lnL w="9525">
                      <a:solidFill>
                        <a:srgbClr val="D5DEE3"/>
                      </a:solidFill>
                      <a:prstDash val="soli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70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นาฬิกายังอ่านเซ็นเซอร์และเก็บคิว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70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614.0 s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0625">
                <a:tc>
                  <a:txBody>
                    <a:bodyPr/>
                    <a:lstStyle/>
                    <a:p>
                      <a:r>
                        <a:rPr sz="2700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กลับออนไลน์</a:t>
                      </a:r>
                    </a:p>
                  </a:txBody>
                  <a:tcPr>
                    <a:lnL w="9525">
                      <a:solidFill>
                        <a:srgbClr val="D5DEE3"/>
                      </a:solidFill>
                      <a:prstDash val="soli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70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ส่ง capture ที่ค้างโดยอัตโนมัติ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70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852 รหัสย้อนหลัง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90625">
                <a:tc>
                  <a:txBody>
                    <a:bodyPr/>
                    <a:lstStyle/>
                    <a:p>
                      <a:r>
                        <a:rPr sz="2700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ตรวจฐานข้อมูล</a:t>
                      </a:r>
                    </a:p>
                  </a:txBody>
                  <a:tcPr>
                    <a:lnL w="9525">
                      <a:solidFill>
                        <a:srgbClr val="D5DEE3"/>
                      </a:solidFill>
                      <a:prstDash val="soli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70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เทียบรหัสทั้งหมดในช่วงทดสอบ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70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877 / 877 รหัส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caption">
            <a:extLst>
              <a:ext uri="{FF2B5EF4-FFF2-40B4-BE49-F238E27FC236}">
                <a16:creationId xmlns:a16="http://schemas.microsoft.com/office/drawing/2014/main" id="{F8025846-9F0A-490B-8FB9-4B64DE055ECB}"/>
              </a:ext>
            </a:extLst>
          </p:cNvPr>
          <p:cNvSpPr>
            <a:spLocks noGrp="1"/>
          </p:cNvSpPr>
          <p:nvPr/>
        </p:nvSpPr>
        <p:spPr>
          <a:xfrm>
            <a:off x="857250" y="8915400"/>
            <a:ext cx="16573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ผลรุ่น 2.0.9 วันที่ 16 ต.ค. 2026   แฟลชตัวเล็กและ MicroSD จอใหญ่ทำหน้าที่ต่างกัน</a:t>
            </a:r>
          </a:p>
        </p:txBody>
      </p:sp>
    </p:spTree>
    <p:extLst>
      <p:ext uri="{BB962C8B-B14F-4D97-AF65-F5344CB8AC3E}">
        <p14:creationId xmlns:p14="http://schemas.microsoft.com/office/powerpoint/2010/main" val="4965439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2F60E599-AD09-4A6A-9FD0-48BB4AF0836F}"/>
              </a:ext>
            </a:extLst>
          </p:cNvPr>
          <p:cNvSpPr>
            <a:spLocks noGrp="1"/>
          </p:cNvSpPr>
          <p:nvPr/>
        </p:nvSpPr>
        <p:spPr>
          <a:xfrm>
            <a:off x="857250" y="476250"/>
            <a:ext cx="165735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pPr>
            <a:r>
              <a: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rPr>
              <a:t>CSV จาก MicroSD</a:t>
            </a:r>
          </a:p>
        </p:txBody>
      </p:sp>
      <p:sp>
        <p:nvSpPr>
          <p:cNvPr id="2" name="footer">
            <a:extLst>
              <a:ext uri="{FF2B5EF4-FFF2-40B4-BE49-F238E27FC236}">
                <a16:creationId xmlns:a16="http://schemas.microsoft.com/office/drawing/2014/main" id="{5B7477F6-4CF3-4A98-9EC7-6D516204525A}"/>
              </a:ext>
            </a:extLst>
          </p:cNvPr>
          <p:cNvSpPr>
            <a:spLocks noGrp="1"/>
          </p:cNvSpPr>
          <p:nvPr/>
        </p:nvSpPr>
        <p:spPr>
          <a:xfrm>
            <a:off x="857250" y="9677400"/>
            <a:ext cx="14763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KU Watch   Final presentation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2C2A0A56-A982-4F25-AA3A-0F5454532715}"/>
              </a:ext>
            </a:extLst>
          </p:cNvPr>
          <p:cNvSpPr>
            <a:spLocks noGrp="1"/>
          </p:cNvSpPr>
          <p:nvPr/>
        </p:nvSpPr>
        <p:spPr>
          <a:xfrm>
            <a:off x="16764000" y="9677400"/>
            <a:ext cx="762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13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1A163A0-F12B-4EEA-A084-B2876F130CF1}"/>
              </a:ext>
            </a:extLst>
          </p:cNvPr>
          <p:cNvGraphicFramePr/>
          <p:nvPr/>
        </p:nvGraphicFramePr>
        <p:xfrm>
          <a:off x="857250" y="2143125"/>
          <a:ext cx="16573500" cy="5953125"/>
        </p:xfrm>
        <a:graphic>
          <a:graphicData uri="http://schemas.openxmlformats.org/drawingml/2006/table">
            <a:tbl>
              <a:tblPr/>
              <a:tblGrid>
                <a:gridCol w="476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44141">
                <a:tc>
                  <a:txBody>
                    <a:bodyPr/>
                    <a:lstStyle/>
                    <a:p>
                      <a:r>
                        <a:rPr sz="2550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เวลา UTC (epoch)</a:t>
                      </a:r>
                    </a:p>
                  </a:txBody>
                  <a:tcPr>
                    <a:lnL w="9525">
                      <a:solidFill>
                        <a:srgbClr val="D5DEE3"/>
                      </a:solidFill>
                      <a:prstDash val="soli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>
                      <a:solidFill>
                        <a:srgbClr val="D5DEE3"/>
                      </a:solidFill>
                      <a:prstDash val="soli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อุณหภูมิ C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>
                      <a:solidFill>
                        <a:srgbClr val="D5DEE3"/>
                      </a:solidFill>
                      <a:prstDash val="soli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ความชื้น %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>
                      <a:solidFill>
                        <a:srgbClr val="D5DEE3"/>
                      </a:solidFill>
                      <a:prstDash val="soli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รุ่น Watch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>
                      <a:solidFill>
                        <a:srgbClr val="D5DEE3"/>
                      </a:solidFill>
                      <a:prstDash val="soli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0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4141">
                <a:tc>
                  <a:txBody>
                    <a:bodyPr/>
                    <a:lstStyle/>
                    <a:p>
                      <a:r>
                        <a:rPr sz="2550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1792135219</a:t>
                      </a:r>
                    </a:p>
                  </a:txBody>
                  <a:tcPr>
                    <a:lnL w="9525">
                      <a:solidFill>
                        <a:srgbClr val="D5DEE3"/>
                      </a:solidFill>
                      <a:prstDash val="soli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38.647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46.090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2.0.9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4141">
                <a:tc>
                  <a:txBody>
                    <a:bodyPr/>
                    <a:lstStyle/>
                    <a:p>
                      <a:r>
                        <a:rPr sz="2550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1792135224</a:t>
                      </a:r>
                    </a:p>
                  </a:txBody>
                  <a:tcPr>
                    <a:lnL w="9525">
                      <a:solidFill>
                        <a:srgbClr val="D5DEE3"/>
                      </a:solidFill>
                      <a:prstDash val="soli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38.705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45.663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2.0.9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4141">
                <a:tc>
                  <a:txBody>
                    <a:bodyPr/>
                    <a:lstStyle/>
                    <a:p>
                      <a:r>
                        <a:rPr sz="2550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1792135229</a:t>
                      </a:r>
                    </a:p>
                  </a:txBody>
                  <a:tcPr>
                    <a:lnL w="9525">
                      <a:solidFill>
                        <a:srgbClr val="D5DEE3"/>
                      </a:solidFill>
                      <a:prstDash val="soli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38.736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45.680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2.0.9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4141">
                <a:tc>
                  <a:txBody>
                    <a:bodyPr/>
                    <a:lstStyle/>
                    <a:p>
                      <a:r>
                        <a:rPr sz="2550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1792135235</a:t>
                      </a:r>
                    </a:p>
                  </a:txBody>
                  <a:tcPr>
                    <a:lnL w="9525">
                      <a:solidFill>
                        <a:srgbClr val="D5DEE3"/>
                      </a:solidFill>
                      <a:prstDash val="soli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38.493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46.686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2.0.9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4141">
                <a:tc>
                  <a:txBody>
                    <a:bodyPr/>
                    <a:lstStyle/>
                    <a:p>
                      <a:r>
                        <a:rPr sz="2550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1792135240</a:t>
                      </a:r>
                    </a:p>
                  </a:txBody>
                  <a:tcPr>
                    <a:lnL w="9525">
                      <a:solidFill>
                        <a:srgbClr val="D5DEE3"/>
                      </a:solidFill>
                      <a:prstDash val="soli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38.290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47.810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2.0.9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44141">
                <a:tc>
                  <a:txBody>
                    <a:bodyPr/>
                    <a:lstStyle/>
                    <a:p>
                      <a:r>
                        <a:rPr sz="2550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1792135245</a:t>
                      </a:r>
                    </a:p>
                  </a:txBody>
                  <a:tcPr>
                    <a:lnL w="9525">
                      <a:solidFill>
                        <a:srgbClr val="D5DEE3"/>
                      </a:solidFill>
                      <a:prstDash val="soli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38.197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48.256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2.0.9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44141">
                <a:tc>
                  <a:txBody>
                    <a:bodyPr/>
                    <a:lstStyle/>
                    <a:p>
                      <a:r>
                        <a:rPr sz="2550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1792135250</a:t>
                      </a:r>
                    </a:p>
                  </a:txBody>
                  <a:tcPr>
                    <a:lnL w="9525">
                      <a:solidFill>
                        <a:srgbClr val="D5DEE3"/>
                      </a:solidFill>
                      <a:prstDash val="soli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38.169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48.396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2.0.9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caption">
            <a:extLst>
              <a:ext uri="{FF2B5EF4-FFF2-40B4-BE49-F238E27FC236}">
                <a16:creationId xmlns:a16="http://schemas.microsoft.com/office/drawing/2014/main" id="{F379FB20-9682-46FA-A01B-FBA823ECECB6}"/>
              </a:ext>
            </a:extLst>
          </p:cNvPr>
          <p:cNvSpPr>
            <a:spLocks noGrp="1"/>
          </p:cNvSpPr>
          <p:nvPr/>
        </p:nvSpPr>
        <p:spPr>
          <a:xfrm>
            <a:off x="857250" y="8915400"/>
            <a:ext cx="16573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ต้นฉบับ 61 แถว 26 คอลัมน์ ครอบคลุม 301 s และเปิดใน Excel ได้</a:t>
            </a:r>
          </a:p>
        </p:txBody>
      </p:sp>
    </p:spTree>
    <p:extLst>
      <p:ext uri="{BB962C8B-B14F-4D97-AF65-F5344CB8AC3E}">
        <p14:creationId xmlns:p14="http://schemas.microsoft.com/office/powerpoint/2010/main" val="6686650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41DF23F3-7F60-4121-A018-2C996523DD11}"/>
              </a:ext>
            </a:extLst>
          </p:cNvPr>
          <p:cNvSpPr>
            <a:spLocks noGrp="1"/>
          </p:cNvSpPr>
          <p:nvPr/>
        </p:nvSpPr>
        <p:spPr>
          <a:xfrm>
            <a:off x="857250" y="476250"/>
            <a:ext cx="165735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pPr>
            <a:r>
              <a: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rPr>
              <a:t>การแจ้งเตือนเมื่อเกินเกณฑ์</a:t>
            </a:r>
          </a:p>
        </p:txBody>
      </p:sp>
      <p:sp>
        <p:nvSpPr>
          <p:cNvPr id="2" name="footer">
            <a:extLst>
              <a:ext uri="{FF2B5EF4-FFF2-40B4-BE49-F238E27FC236}">
                <a16:creationId xmlns:a16="http://schemas.microsoft.com/office/drawing/2014/main" id="{3F2B2C1E-4B7C-4C80-AAF9-BADB6688D0A2}"/>
              </a:ext>
            </a:extLst>
          </p:cNvPr>
          <p:cNvSpPr>
            <a:spLocks noGrp="1"/>
          </p:cNvSpPr>
          <p:nvPr/>
        </p:nvSpPr>
        <p:spPr>
          <a:xfrm>
            <a:off x="857250" y="9677400"/>
            <a:ext cx="14763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KU Watch   Final presentation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B3A0032C-889F-4131-A3FC-83D9CBC429B8}"/>
              </a:ext>
            </a:extLst>
          </p:cNvPr>
          <p:cNvSpPr>
            <a:spLocks noGrp="1"/>
          </p:cNvSpPr>
          <p:nvPr/>
        </p:nvSpPr>
        <p:spPr>
          <a:xfrm>
            <a:off x="16764000" y="9677400"/>
            <a:ext cx="762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14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7048DE1-334E-4BB5-9A59-1CF0ECCC99C5}"/>
              </a:ext>
            </a:extLst>
          </p:cNvPr>
          <p:cNvGraphicFramePr/>
          <p:nvPr/>
        </p:nvGraphicFramePr>
        <p:xfrm>
          <a:off x="11239500" y="2762250"/>
          <a:ext cx="6191250" cy="3143250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8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8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4775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กรณี</a:t>
                      </a:r>
                    </a:p>
                  </a:txBody>
                  <a:tcPr>
                    <a:lnL w="9525">
                      <a:solidFill>
                        <a:srgbClr val="D5DEE3"/>
                      </a:solidFill>
                      <a:prstDash val="soli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>
                      <a:solidFill>
                        <a:srgbClr val="D5DEE3"/>
                      </a:solidFill>
                      <a:prstDash val="soli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จอ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>
                      <a:solidFill>
                        <a:srgbClr val="D5DEE3"/>
                      </a:solidFill>
                      <a:prstDash val="soli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Browser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>
                      <a:solidFill>
                        <a:srgbClr val="D5DEE3"/>
                      </a:solidFill>
                      <a:prstDash val="soli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0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TEMP</a:t>
                      </a:r>
                    </a:p>
                  </a:txBody>
                  <a:tcPr>
                    <a:lnL w="9525">
                      <a:solidFill>
                        <a:srgbClr val="D5DEE3"/>
                      </a:solidFill>
                      <a:prstDash val="soli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2.787 s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2.656 s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IAQ</a:t>
                      </a:r>
                    </a:p>
                  </a:txBody>
                  <a:tcPr>
                    <a:lnL w="9525">
                      <a:solidFill>
                        <a:srgbClr val="D5DEE3"/>
                      </a:solidFill>
                      <a:prstDash val="soli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2.951 s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2.579 s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body">
            <a:extLst>
              <a:ext uri="{FF2B5EF4-FFF2-40B4-BE49-F238E27FC236}">
                <a16:creationId xmlns:a16="http://schemas.microsoft.com/office/drawing/2014/main" id="{ABA0DA6F-C525-447F-81A3-0A551F896F0A}"/>
              </a:ext>
            </a:extLst>
          </p:cNvPr>
          <p:cNvSpPr>
            <a:spLocks noGrp="1"/>
          </p:cNvSpPr>
          <p:nvPr/>
        </p:nvSpPr>
        <p:spPr>
          <a:xfrm>
            <a:off x="11239500" y="6572250"/>
            <a:ext cx="619125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6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6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6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6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6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6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6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6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6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6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26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pPr>
            <a:r>
              <a:rPr sz="26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rPr>
              <a:t>ป้อนค่าจำลอง 3 รอบที่ 1 Hz</a:t>
            </a:r>
          </a:p>
          <a:p>
            <a:pPr>
              <a:defRPr sz="26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pPr>
            <a:r>
              <a:rPr sz="26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rPr>
              <a:t>ผ่านทั้ง 2 กรณีภายใน 5 s</a:t>
            </a:r>
          </a:p>
        </p:txBody>
      </p:sp>
      <p:sp>
        <p:nvSpPr>
          <p:cNvPr id="7" name="caption">
            <a:extLst>
              <a:ext uri="{FF2B5EF4-FFF2-40B4-BE49-F238E27FC236}">
                <a16:creationId xmlns:a16="http://schemas.microsoft.com/office/drawing/2014/main" id="{88ACFA89-9955-4F4A-9330-AF92C512CAEE}"/>
              </a:ext>
            </a:extLst>
          </p:cNvPr>
          <p:cNvSpPr>
            <a:spLocks noGrp="1"/>
          </p:cNvSpPr>
          <p:nvPr/>
        </p:nvSpPr>
        <p:spPr>
          <a:xfrm>
            <a:off x="857250" y="8915400"/>
            <a:ext cx="16573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ข้อมูล TEST แยกจากข้อมูลเซ็นเซอร์จริงและฐานข้อมูลสะสม</a:t>
            </a:r>
          </a:p>
        </p:txBody>
      </p:sp>
      <p:pic>
        <p:nvPicPr>
          <p:cNvPr id="9" name="Original recording fr06-alert-test-2.0.15.mp4">
            <a:hlinkClick action="ppaction://media"/>
            <a:extLst>
              <a:ext uri="{FF2B5EF4-FFF2-40B4-BE49-F238E27FC236}">
                <a16:creationId xmlns:a16="http://schemas.microsoft.com/office/drawing/2014/main" id="{891719FF-7240-7B4E-6DCC-1027FC17F2B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386840" y="2143126"/>
            <a:ext cx="8846820" cy="614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8654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C9E054DA-A1E1-4BED-9BCF-8F0F39F0C9D1}"/>
              </a:ext>
            </a:extLst>
          </p:cNvPr>
          <p:cNvSpPr>
            <a:spLocks noGrp="1"/>
          </p:cNvSpPr>
          <p:nvPr/>
        </p:nvSpPr>
        <p:spPr>
          <a:xfrm>
            <a:off x="857250" y="476250"/>
            <a:ext cx="165735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pPr>
            <a:r>
              <a: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rPr>
              <a:t>การอัปเดตเฟิร์มแวร์ผ่าน Wi-Fi</a:t>
            </a:r>
          </a:p>
        </p:txBody>
      </p:sp>
      <p:sp>
        <p:nvSpPr>
          <p:cNvPr id="2" name="footer">
            <a:extLst>
              <a:ext uri="{FF2B5EF4-FFF2-40B4-BE49-F238E27FC236}">
                <a16:creationId xmlns:a16="http://schemas.microsoft.com/office/drawing/2014/main" id="{4AFE5B6E-393A-49CE-A512-A2D400F118AB}"/>
              </a:ext>
            </a:extLst>
          </p:cNvPr>
          <p:cNvSpPr>
            <a:spLocks noGrp="1"/>
          </p:cNvSpPr>
          <p:nvPr/>
        </p:nvSpPr>
        <p:spPr>
          <a:xfrm>
            <a:off x="857250" y="9677400"/>
            <a:ext cx="14763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KU Watch   Final presentation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FBA283A5-D514-47CF-88C8-C0DC0F623B6F}"/>
              </a:ext>
            </a:extLst>
          </p:cNvPr>
          <p:cNvSpPr>
            <a:spLocks noGrp="1"/>
          </p:cNvSpPr>
          <p:nvPr/>
        </p:nvSpPr>
        <p:spPr>
          <a:xfrm>
            <a:off x="16764000" y="9677400"/>
            <a:ext cx="762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15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B9C67BD4-84AC-432D-BDD7-97D45840336B}"/>
              </a:ext>
            </a:extLst>
          </p:cNvPr>
          <p:cNvSpPr>
            <a:spLocks noGrp="1"/>
          </p:cNvSpPr>
          <p:nvPr/>
        </p:nvSpPr>
        <p:spPr>
          <a:xfrm>
            <a:off x="857250" y="2286000"/>
            <a:ext cx="161925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5400" b="1">
                <a:solidFill>
                  <a:srgbClr val="176E5B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5400" b="1">
                <a:solidFill>
                  <a:srgbClr val="176E5B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5400" b="1">
                <a:solidFill>
                  <a:srgbClr val="176E5B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5400" b="1">
                <a:solidFill>
                  <a:srgbClr val="176E5B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5400" b="1">
                <a:solidFill>
                  <a:srgbClr val="176E5B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5400" b="1">
                <a:solidFill>
                  <a:srgbClr val="176E5B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5400" b="1">
                <a:solidFill>
                  <a:srgbClr val="176E5B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5400" b="1">
                <a:solidFill>
                  <a:srgbClr val="176E5B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5400" b="1">
                <a:solidFill>
                  <a:srgbClr val="176E5B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5400" b="1">
                <a:solidFill>
                  <a:srgbClr val="176E5B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5400" b="1">
                <a:solidFill>
                  <a:srgbClr val="176E5B"/>
                </a:solidFill>
                <a:latin typeface="Leelawadee UI"/>
                <a:ea typeface="Leelawadee UI"/>
                <a:cs typeface="Leelawadee UI"/>
              </a:defRPr>
            </a:pPr>
            <a:r>
              <a:rPr sz="5400" b="1">
                <a:solidFill>
                  <a:srgbClr val="176E5B"/>
                </a:solidFill>
                <a:latin typeface="Leelawadee UI"/>
                <a:ea typeface="Leelawadee UI"/>
                <a:cs typeface="Leelawadee UI"/>
              </a:rPr>
              <a:t>2.0.14  เป็น  2.0.15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2652C3FA-1656-427F-9B90-756AEA6C7D68}"/>
              </a:ext>
            </a:extLst>
          </p:cNvPr>
          <p:cNvSpPr>
            <a:spLocks noGrp="1"/>
          </p:cNvSpPr>
          <p:nvPr/>
        </p:nvSpPr>
        <p:spPr>
          <a:xfrm>
            <a:off x="857250" y="4095750"/>
            <a:ext cx="16573500" cy="266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300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3300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3300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3300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3300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3300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3300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3300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3300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3300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3300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pPr>
            <a:r>
              <a:rPr sz="3300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rPr>
              <a:t>ดาวน์โหลดผ่าน HTTPS และตรวจ SHA-256</a:t>
            </a:r>
          </a:p>
          <a:p>
            <a:pPr>
              <a:defRPr sz="3300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pPr>
            <a:r>
              <a:rPr sz="3300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rPr>
              <a:t>บูตเวอร์ชันใหม่สำเร็จในประมาณ 88.4 s</a:t>
            </a:r>
          </a:p>
          <a:p>
            <a:pPr>
              <a:defRPr sz="3300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pPr>
            <a:r>
              <a:rPr sz="3300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rPr>
              <a:t>รายงานเลขรุ่นขึ้น MQTT และแสดงตรงกันทั้งสองจอ</a:t>
            </a: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37A0ECB9-6E9B-441B-A7D6-B400F52FAE60}"/>
              </a:ext>
            </a:extLst>
          </p:cNvPr>
          <p:cNvSpPr>
            <a:spLocks noGrp="1"/>
          </p:cNvSpPr>
          <p:nvPr/>
        </p:nvSpPr>
        <p:spPr>
          <a:xfrm>
            <a:off x="857250" y="7334250"/>
            <a:ext cx="16573500" cy="1381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47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47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47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47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47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47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47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47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47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247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247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OTA AUTO CHECK</a:t>
            </a:r>
          </a:p>
          <a:p>
            <a:pPr>
              <a:defRPr sz="247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247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OTA VERIFIED version=2.0.15</a:t>
            </a:r>
          </a:p>
          <a:p>
            <a:pPr>
              <a:defRPr sz="247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247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OTA BOOT HEALTH CONFIRMED</a:t>
            </a:r>
          </a:p>
        </p:txBody>
      </p:sp>
    </p:spTree>
    <p:extLst>
      <p:ext uri="{BB962C8B-B14F-4D97-AF65-F5344CB8AC3E}">
        <p14:creationId xmlns:p14="http://schemas.microsoft.com/office/powerpoint/2010/main" val="21064879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46702407-C8FC-41D2-AC09-7F33A3810AD4}"/>
              </a:ext>
            </a:extLst>
          </p:cNvPr>
          <p:cNvSpPr>
            <a:spLocks noGrp="1"/>
          </p:cNvSpPr>
          <p:nvPr/>
        </p:nvSpPr>
        <p:spPr>
          <a:xfrm>
            <a:off x="857250" y="476250"/>
            <a:ext cx="165735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pPr>
            <a:r>
              <a: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rPr>
              <a:t>ผลตรวจรับการทำงาน</a:t>
            </a:r>
          </a:p>
        </p:txBody>
      </p:sp>
      <p:sp>
        <p:nvSpPr>
          <p:cNvPr id="2" name="footer">
            <a:extLst>
              <a:ext uri="{FF2B5EF4-FFF2-40B4-BE49-F238E27FC236}">
                <a16:creationId xmlns:a16="http://schemas.microsoft.com/office/drawing/2014/main" id="{4EC67E2A-F8DE-43E3-B527-C6DB858DD247}"/>
              </a:ext>
            </a:extLst>
          </p:cNvPr>
          <p:cNvSpPr>
            <a:spLocks noGrp="1"/>
          </p:cNvSpPr>
          <p:nvPr/>
        </p:nvSpPr>
        <p:spPr>
          <a:xfrm>
            <a:off x="857250" y="9677400"/>
            <a:ext cx="14763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KU Watch   Final presentation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50DB59C6-0B94-46C5-B7FD-DFE4C4D4C47A}"/>
              </a:ext>
            </a:extLst>
          </p:cNvPr>
          <p:cNvSpPr>
            <a:spLocks noGrp="1"/>
          </p:cNvSpPr>
          <p:nvPr/>
        </p:nvSpPr>
        <p:spPr>
          <a:xfrm>
            <a:off x="16764000" y="9677400"/>
            <a:ext cx="762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16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7854280-4079-4207-A77E-B575CE238553}"/>
              </a:ext>
            </a:extLst>
          </p:cNvPr>
          <p:cNvGraphicFramePr/>
          <p:nvPr/>
        </p:nvGraphicFramePr>
        <p:xfrm>
          <a:off x="857250" y="2000250"/>
          <a:ext cx="16573500" cy="6429375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3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ข้อ</a:t>
                      </a:r>
                    </a:p>
                  </a:txBody>
                  <a:tcPr>
                    <a:lnL w="9525">
                      <a:solidFill>
                        <a:srgbClr val="D5DEE3"/>
                      </a:solidFill>
                      <a:prstDash val="soli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>
                      <a:solidFill>
                        <a:srgbClr val="D5DEE3"/>
                      </a:solidFill>
                      <a:prstDash val="soli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ตรวจอะไร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>
                      <a:solidFill>
                        <a:srgbClr val="D5DEE3"/>
                      </a:solidFill>
                      <a:prstDash val="soli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ผลตามหลักฐาน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>
                      <a:solidFill>
                        <a:srgbClr val="D5DEE3"/>
                      </a:solidFill>
                      <a:prstDash val="soli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0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FR-01</a:t>
                      </a:r>
                    </a:p>
                  </a:txBody>
                  <a:tcPr>
                    <a:lnL w="9525">
                      <a:solidFill>
                        <a:srgbClr val="D5DEE3"/>
                      </a:solidFill>
                      <a:prstDash val="soli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เซ็นเซอร์และจอ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ผ่านตามขอบเขตที่ตรวจ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FR-02</a:t>
                      </a:r>
                    </a:p>
                  </a:txBody>
                  <a:tcPr>
                    <a:lnL w="9525">
                      <a:solidFill>
                        <a:srgbClr val="D5DEE3"/>
                      </a:solidFill>
                      <a:prstDash val="soli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เวลา แบต และการสั่งงาน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ผ่านตามขอบเขตที่ตรวจ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FR-03</a:t>
                      </a:r>
                    </a:p>
                  </a:txBody>
                  <a:tcPr>
                    <a:lnL w="9525">
                      <a:solidFill>
                        <a:srgbClr val="D5DEE3"/>
                      </a:solidFill>
                      <a:prstDash val="soli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MQTT 1 s, QoS 1, LWT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ผ่านตามขอบเขตที่ตรวจ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FR-04</a:t>
                      </a:r>
                    </a:p>
                  </a:txBody>
                  <a:tcPr>
                    <a:lnL w="9525">
                      <a:solidFill>
                        <a:srgbClr val="D5DEE3"/>
                      </a:solidFill>
                      <a:prstDash val="soli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CSV และ Excel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ผ่านตามขอบเขตที่ตรวจ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FR-05</a:t>
                      </a:r>
                    </a:p>
                  </a:txBody>
                  <a:tcPr>
                    <a:lnL w="9525">
                      <a:solidFill>
                        <a:srgbClr val="D5DEE3"/>
                      </a:solidFill>
                      <a:prstDash val="soli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ออฟไลน์ 10 นาที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ผ่านตามขอบเขตที่ตรวจ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FR-06</a:t>
                      </a:r>
                    </a:p>
                  </a:txBody>
                  <a:tcPr>
                    <a:lnL w="9525">
                      <a:solidFill>
                        <a:srgbClr val="D5DEE3"/>
                      </a:solidFill>
                      <a:prstDash val="soli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แจ้งเตือนภายใน 5 s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ผ่านด้วยค่าจำลอง TEST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FR-07</a:t>
                      </a:r>
                    </a:p>
                  </a:txBody>
                  <a:tcPr>
                    <a:lnL w="9525">
                      <a:solidFill>
                        <a:srgbClr val="D5DEE3"/>
                      </a:solidFill>
                      <a:prstDash val="soli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NVS หลังรีบูต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ผ่านตามขอบเขตที่ตรวจ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FR-08</a:t>
                      </a:r>
                    </a:p>
                  </a:txBody>
                  <a:tcPr>
                    <a:lnL w="9525">
                      <a:solidFill>
                        <a:srgbClr val="D5DEE3"/>
                      </a:solidFill>
                      <a:prstDash val="soli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OTA อัตโนมัติ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ผ่านตามขอบเขตที่ตรวจ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caption">
            <a:extLst>
              <a:ext uri="{FF2B5EF4-FFF2-40B4-BE49-F238E27FC236}">
                <a16:creationId xmlns:a16="http://schemas.microsoft.com/office/drawing/2014/main" id="{A742F477-1FF1-4CCB-A620-FA1E7B3FB4CB}"/>
              </a:ext>
            </a:extLst>
          </p:cNvPr>
          <p:cNvSpPr>
            <a:spLocks noGrp="1"/>
          </p:cNvSpPr>
          <p:nvPr/>
        </p:nvSpPr>
        <p:spPr>
          <a:xfrm>
            <a:off x="857250" y="8915400"/>
            <a:ext cx="16573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ผลแต่ละข้อระบุวัน รุ่น และขอบเขตใน Requirements_V2_Checked.docx</a:t>
            </a:r>
          </a:p>
        </p:txBody>
      </p:sp>
    </p:spTree>
    <p:extLst>
      <p:ext uri="{BB962C8B-B14F-4D97-AF65-F5344CB8AC3E}">
        <p14:creationId xmlns:p14="http://schemas.microsoft.com/office/powerpoint/2010/main" val="13169584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D3DF718E-2863-4C0F-A6D5-5137F5C391A5}"/>
              </a:ext>
            </a:extLst>
          </p:cNvPr>
          <p:cNvSpPr>
            <a:spLocks noGrp="1"/>
          </p:cNvSpPr>
          <p:nvPr/>
        </p:nvSpPr>
        <p:spPr>
          <a:xfrm>
            <a:off x="857250" y="476250"/>
            <a:ext cx="165735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pPr>
            <a:r>
              <a: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rPr>
              <a:t>ผลตรวจคุณภาพระบบ</a:t>
            </a:r>
          </a:p>
        </p:txBody>
      </p:sp>
      <p:sp>
        <p:nvSpPr>
          <p:cNvPr id="2" name="footer">
            <a:extLst>
              <a:ext uri="{FF2B5EF4-FFF2-40B4-BE49-F238E27FC236}">
                <a16:creationId xmlns:a16="http://schemas.microsoft.com/office/drawing/2014/main" id="{F2D72B02-B6AC-449F-8152-088D9BDDB917}"/>
              </a:ext>
            </a:extLst>
          </p:cNvPr>
          <p:cNvSpPr>
            <a:spLocks noGrp="1"/>
          </p:cNvSpPr>
          <p:nvPr/>
        </p:nvSpPr>
        <p:spPr>
          <a:xfrm>
            <a:off x="857250" y="9677400"/>
            <a:ext cx="14763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KU Watch   Final presentation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D32025BE-4FEA-48F7-8362-CBCB85A82F0E}"/>
              </a:ext>
            </a:extLst>
          </p:cNvPr>
          <p:cNvSpPr>
            <a:spLocks noGrp="1"/>
          </p:cNvSpPr>
          <p:nvPr/>
        </p:nvSpPr>
        <p:spPr>
          <a:xfrm>
            <a:off x="16764000" y="9677400"/>
            <a:ext cx="762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17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E8348B0-B675-4C6A-9B68-C098D42A43FC}"/>
              </a:ext>
            </a:extLst>
          </p:cNvPr>
          <p:cNvGraphicFramePr/>
          <p:nvPr/>
        </p:nvGraphicFramePr>
        <p:xfrm>
          <a:off x="857250" y="2381250"/>
          <a:ext cx="16573500" cy="5191125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4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38225">
                <a:tc>
                  <a:txBody>
                    <a:bodyPr/>
                    <a:lstStyle/>
                    <a:p>
                      <a:r>
                        <a:rPr sz="2550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ข้อ</a:t>
                      </a:r>
                    </a:p>
                  </a:txBody>
                  <a:tcPr>
                    <a:lnL w="9525">
                      <a:solidFill>
                        <a:srgbClr val="D5DEE3"/>
                      </a:solidFill>
                      <a:prstDash val="soli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>
                      <a:solidFill>
                        <a:srgbClr val="D5DEE3"/>
                      </a:solidFill>
                      <a:prstDash val="soli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เป้าหมายเดิม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>
                      <a:solidFill>
                        <a:srgbClr val="D5DEE3"/>
                      </a:solidFill>
                      <a:prstDash val="soli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สถานะ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>
                      <a:solidFill>
                        <a:srgbClr val="D5DEE3"/>
                      </a:solidFill>
                      <a:prstDash val="soli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0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8225">
                <a:tc>
                  <a:txBody>
                    <a:bodyPr/>
                    <a:lstStyle/>
                    <a:p>
                      <a:r>
                        <a:rPr sz="2550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NFR-01</a:t>
                      </a:r>
                    </a:p>
                  </a:txBody>
                  <a:tcPr>
                    <a:lnL w="9525">
                      <a:solidFill>
                        <a:srgbClr val="D5DEE3"/>
                      </a:solidFill>
                      <a:prstDash val="soli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ทำงานต่อเนื่อง 24 h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ยังไม่ครบ ต่อเนื่องยาวสุด 8.17 h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8225">
                <a:tc>
                  <a:txBody>
                    <a:bodyPr/>
                    <a:lstStyle/>
                    <a:p>
                      <a:r>
                        <a:rPr sz="2550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NFR-02</a:t>
                      </a:r>
                    </a:p>
                  </a:txBody>
                  <a:tcPr>
                    <a:lnL w="9525">
                      <a:solidFill>
                        <a:srgbClr val="D5DEE3"/>
                      </a:solidFill>
                      <a:prstDash val="soli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เครือข่ายหลุด 10 นาทีแล้วกลับเอง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ผ่านรอบ Wi-Fi หลุดจริง 614 s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8225">
                <a:tc>
                  <a:txBody>
                    <a:bodyPr/>
                    <a:lstStyle/>
                    <a:p>
                      <a:r>
                        <a:rPr sz="2550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NFR-03</a:t>
                      </a:r>
                    </a:p>
                  </a:txBody>
                  <a:tcPr>
                    <a:lnL w="9525">
                      <a:solidFill>
                        <a:srgbClr val="D5DEE3"/>
                      </a:solidFill>
                      <a:prstDash val="soli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Grafana ≤5 s และ touch ≤300 ms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ยังวัดขอบเขตครบไม่ได้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8225">
                <a:tc>
                  <a:txBody>
                    <a:bodyPr/>
                    <a:lstStyle/>
                    <a:p>
                      <a:r>
                        <a:rPr sz="2550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NFR-04</a:t>
                      </a:r>
                    </a:p>
                  </a:txBody>
                  <a:tcPr>
                    <a:lnL w="9525">
                      <a:solidFill>
                        <a:srgbClr val="D5DEE3"/>
                      </a:solidFill>
                      <a:prstDash val="soli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แบต 1000 mAh ใช้ได้ ≥6 h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ยังไม่ทดสอบถึงระดับ 20%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caption">
            <a:extLst>
              <a:ext uri="{FF2B5EF4-FFF2-40B4-BE49-F238E27FC236}">
                <a16:creationId xmlns:a16="http://schemas.microsoft.com/office/drawing/2014/main" id="{CCACAF86-34A1-4296-9DF1-0009BFC1A50D}"/>
              </a:ext>
            </a:extLst>
          </p:cNvPr>
          <p:cNvSpPr>
            <a:spLocks noGrp="1"/>
          </p:cNvSpPr>
          <p:nvPr/>
        </p:nvSpPr>
        <p:spPr>
          <a:xfrm>
            <a:off x="857250" y="8915400"/>
            <a:ext cx="16573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MQTT สะสม 30.32 h นับแยกจากช่วงต่อเนื่อง และแยกจากอายุแบตเตอรี่</a:t>
            </a:r>
          </a:p>
        </p:txBody>
      </p:sp>
    </p:spTree>
    <p:extLst>
      <p:ext uri="{BB962C8B-B14F-4D97-AF65-F5344CB8AC3E}">
        <p14:creationId xmlns:p14="http://schemas.microsoft.com/office/powerpoint/2010/main" val="3195009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EEED094D-FE05-4AF4-934E-8DA042F97253}"/>
              </a:ext>
            </a:extLst>
          </p:cNvPr>
          <p:cNvSpPr>
            <a:spLocks noGrp="1"/>
          </p:cNvSpPr>
          <p:nvPr/>
        </p:nvSpPr>
        <p:spPr>
          <a:xfrm>
            <a:off x="857250" y="476250"/>
            <a:ext cx="165735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pPr>
            <a:r>
              <a: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rPr>
              <a:t>การตรวจคุณภาพที่ยังต้องทำต่อ</a:t>
            </a:r>
          </a:p>
        </p:txBody>
      </p:sp>
      <p:sp>
        <p:nvSpPr>
          <p:cNvPr id="2" name="footer">
            <a:extLst>
              <a:ext uri="{FF2B5EF4-FFF2-40B4-BE49-F238E27FC236}">
                <a16:creationId xmlns:a16="http://schemas.microsoft.com/office/drawing/2014/main" id="{2A5B21BA-200A-495D-95F5-7C45216253CC}"/>
              </a:ext>
            </a:extLst>
          </p:cNvPr>
          <p:cNvSpPr>
            <a:spLocks noGrp="1"/>
          </p:cNvSpPr>
          <p:nvPr/>
        </p:nvSpPr>
        <p:spPr>
          <a:xfrm>
            <a:off x="857250" y="9677400"/>
            <a:ext cx="14763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KU Watch   Final presentation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52872401-8C82-4C82-B379-9AC763D902EB}"/>
              </a:ext>
            </a:extLst>
          </p:cNvPr>
          <p:cNvSpPr>
            <a:spLocks noGrp="1"/>
          </p:cNvSpPr>
          <p:nvPr/>
        </p:nvSpPr>
        <p:spPr>
          <a:xfrm>
            <a:off x="16764000" y="9677400"/>
            <a:ext cx="762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18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FE236A5-F3B7-4B3B-9F7D-3048EC7B2752}"/>
              </a:ext>
            </a:extLst>
          </p:cNvPr>
          <p:cNvGraphicFramePr/>
          <p:nvPr/>
        </p:nvGraphicFramePr>
        <p:xfrm>
          <a:off x="857250" y="2381250"/>
          <a:ext cx="16573500" cy="5191125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38225">
                <a:tc>
                  <a:txBody>
                    <a:bodyPr/>
                    <a:lstStyle/>
                    <a:p>
                      <a:r>
                        <a:rPr sz="2550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ข้อ</a:t>
                      </a:r>
                    </a:p>
                  </a:txBody>
                  <a:tcPr>
                    <a:lnL w="9525">
                      <a:solidFill>
                        <a:srgbClr val="D5DEE3"/>
                      </a:solidFill>
                      <a:prstDash val="soli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>
                      <a:solidFill>
                        <a:srgbClr val="D5DEE3"/>
                      </a:solidFill>
                      <a:prstDash val="soli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รายการ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>
                      <a:solidFill>
                        <a:srgbClr val="D5DEE3"/>
                      </a:solidFill>
                      <a:prstDash val="soli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สถานะ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>
                      <a:solidFill>
                        <a:srgbClr val="D5DEE3"/>
                      </a:solidFill>
                      <a:prstDash val="soli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0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8225">
                <a:tc>
                  <a:txBody>
                    <a:bodyPr/>
                    <a:lstStyle/>
                    <a:p>
                      <a:r>
                        <a:rPr sz="2550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NFR-05</a:t>
                      </a:r>
                    </a:p>
                  </a:txBody>
                  <a:tcPr>
                    <a:lnL w="9525">
                      <a:solidFill>
                        <a:srgbClr val="D5DEE3"/>
                      </a:solidFill>
                      <a:prstDash val="soli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Credentials ใน GitHub และ broker auth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ผ่าน snapshot ส่วนตัวที่ตรวจ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8225">
                <a:tc>
                  <a:txBody>
                    <a:bodyPr/>
                    <a:lstStyle/>
                    <a:p>
                      <a:r>
                        <a:rPr sz="2550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NFR-06</a:t>
                      </a:r>
                    </a:p>
                  </a:txBody>
                  <a:tcPr>
                    <a:lnL w="9525">
                      <a:solidFill>
                        <a:srgbClr val="D5DEE3"/>
                      </a:solidFill>
                      <a:prstDash val="soli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เทียบอุณหภูมิอ้างอิง 10 จุด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ยังไม่มีชุดข้อมูลสอบเทียบ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8225">
                <a:tc>
                  <a:txBody>
                    <a:bodyPr/>
                    <a:lstStyle/>
                    <a:p>
                      <a:r>
                        <a:rPr sz="2550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NFR-07</a:t>
                      </a:r>
                    </a:p>
                  </a:txBody>
                  <a:tcPr>
                    <a:lnL w="9525">
                      <a:solidFill>
                        <a:srgbClr val="D5DEE3"/>
                      </a:solidFill>
                      <a:prstDash val="soli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BOM ราคาจริงรวมไม่เกิน 3000 บาท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ยังไม่มีราคาครบทุกชิ้น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8225">
                <a:tc>
                  <a:txBody>
                    <a:bodyPr/>
                    <a:lstStyle/>
                    <a:p>
                      <a:r>
                        <a:rPr sz="2550" b="1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NFR-08</a:t>
                      </a:r>
                    </a:p>
                  </a:txBody>
                  <a:tcPr>
                    <a:lnL w="9525">
                      <a:solidFill>
                        <a:srgbClr val="D5DEE3"/>
                      </a:solidFill>
                      <a:prstDash val="soli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ตัดไฟกลาง OTA และ rollback 3 ครั้ง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50" b="0">
                          <a:solidFill>
                            <a:srgbClr val="25343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ยังไม่ทดสอบครบ 3 ครั้ง</a:t>
                      </a:r>
                    </a:p>
                  </a:txBody>
                  <a:tcPr>
                    <a:lnL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3"/>
                      </a:solidFill>
                      <a:prstDash val="solid"/>
                    </a:lnR>
                    <a:lnT w="9525" cap="flat" cmpd="sng" algn="ctr">
                      <a:solidFill>
                        <a:srgbClr val="D5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caption">
            <a:extLst>
              <a:ext uri="{FF2B5EF4-FFF2-40B4-BE49-F238E27FC236}">
                <a16:creationId xmlns:a16="http://schemas.microsoft.com/office/drawing/2014/main" id="{177EC266-FF3D-4945-9D18-0A48128F4AD1}"/>
              </a:ext>
            </a:extLst>
          </p:cNvPr>
          <p:cNvSpPr>
            <a:spLocks noGrp="1"/>
          </p:cNvSpPr>
          <p:nvPr/>
        </p:nvSpPr>
        <p:spPr>
          <a:xfrm>
            <a:off x="857250" y="8915400"/>
            <a:ext cx="16573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เก็บเกณฑ์เดิมไว้ครบและระบุผลที่ตรวจได้จริง</a:t>
            </a:r>
          </a:p>
        </p:txBody>
      </p:sp>
    </p:spTree>
    <p:extLst>
      <p:ext uri="{BB962C8B-B14F-4D97-AF65-F5344CB8AC3E}">
        <p14:creationId xmlns:p14="http://schemas.microsoft.com/office/powerpoint/2010/main" val="3569099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3E71D67A-5AA8-4E19-AE9C-F803EF3098FE}"/>
              </a:ext>
            </a:extLst>
          </p:cNvPr>
          <p:cNvSpPr>
            <a:spLocks noGrp="1"/>
          </p:cNvSpPr>
          <p:nvPr/>
        </p:nvSpPr>
        <p:spPr>
          <a:xfrm>
            <a:off x="857250" y="476250"/>
            <a:ext cx="165735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pPr>
            <a:r>
              <a: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rPr>
              <a:t>สรุปผลโครงงาน</a:t>
            </a:r>
          </a:p>
        </p:txBody>
      </p:sp>
      <p:sp>
        <p:nvSpPr>
          <p:cNvPr id="2" name="footer">
            <a:extLst>
              <a:ext uri="{FF2B5EF4-FFF2-40B4-BE49-F238E27FC236}">
                <a16:creationId xmlns:a16="http://schemas.microsoft.com/office/drawing/2014/main" id="{267FC91C-F0F0-4EA1-A29F-C15A3AAF63D4}"/>
              </a:ext>
            </a:extLst>
          </p:cNvPr>
          <p:cNvSpPr>
            <a:spLocks noGrp="1"/>
          </p:cNvSpPr>
          <p:nvPr/>
        </p:nvSpPr>
        <p:spPr>
          <a:xfrm>
            <a:off x="857250" y="9677400"/>
            <a:ext cx="14763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KU Watch   Final presentation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2E4BE6D0-D034-4E77-8537-173E23088225}"/>
              </a:ext>
            </a:extLst>
          </p:cNvPr>
          <p:cNvSpPr>
            <a:spLocks noGrp="1"/>
          </p:cNvSpPr>
          <p:nvPr/>
        </p:nvSpPr>
        <p:spPr>
          <a:xfrm>
            <a:off x="16764000" y="9677400"/>
            <a:ext cx="762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19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C198BD2F-204B-4FD6-B82F-CBBBD84034D8}"/>
              </a:ext>
            </a:extLst>
          </p:cNvPr>
          <p:cNvSpPr>
            <a:spLocks noGrp="1"/>
          </p:cNvSpPr>
          <p:nvPr/>
        </p:nvSpPr>
        <p:spPr>
          <a:xfrm>
            <a:off x="857250" y="2190750"/>
            <a:ext cx="165735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6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36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36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36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36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36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36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36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36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36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36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pPr>
            <a:r>
              <a:rPr sz="36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rPr>
              <a:t>ต้นแบบอ่านค่าและแสดงผลร่วมกันสองจอได้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5E2AD865-B5E8-4548-B03D-708FB0BB405A}"/>
              </a:ext>
            </a:extLst>
          </p:cNvPr>
          <p:cNvSpPr>
            <a:spLocks noGrp="1"/>
          </p:cNvSpPr>
          <p:nvPr/>
        </p:nvSpPr>
        <p:spPr>
          <a:xfrm>
            <a:off x="857250" y="3810000"/>
            <a:ext cx="16573500" cy="2571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2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32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32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32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32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32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32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32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32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32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32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pPr>
            <a:r>
              <a:rPr sz="32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rPr>
              <a:t>ข้อมูลส่งถึงฐานข้อมูลและเปิดดูย้อนหลังได้</a:t>
            </a:r>
          </a:p>
          <a:p>
            <a:pPr>
              <a:defRPr sz="32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pPr>
            <a:r>
              <a:rPr sz="32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rPr>
              <a:t>เมื่อ Wi-Fi หลุด ระบบเก็บค้างและส่งกลับเอง</a:t>
            </a:r>
          </a:p>
          <a:p>
            <a:pPr>
              <a:defRPr sz="32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pPr>
            <a:r>
              <a:rPr sz="32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rPr>
              <a:t>การตั้งค่าและ OTA มีผลทดสอบบนอุปกรณ์จริง</a:t>
            </a:r>
          </a:p>
        </p:txBody>
      </p:sp>
      <p:sp>
        <p:nvSpPr>
          <p:cNvPr id="6" name="body">
            <a:extLst>
              <a:ext uri="{FF2B5EF4-FFF2-40B4-BE49-F238E27FC236}">
                <a16:creationId xmlns:a16="http://schemas.microsoft.com/office/drawing/2014/main" id="{585FD161-2A02-4F57-83CA-0486F7BD2E6C}"/>
              </a:ext>
            </a:extLst>
          </p:cNvPr>
          <p:cNvSpPr>
            <a:spLocks noGrp="1"/>
          </p:cNvSpPr>
          <p:nvPr/>
        </p:nvSpPr>
        <p:spPr>
          <a:xfrm>
            <a:off x="857250" y="7429500"/>
            <a:ext cx="1657350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0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70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70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70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70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70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70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70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70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70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270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270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งานตรวจรับที่ยังเหลือคือความต่อเนื่อง 24 h แบตเตอรี่</a:t>
            </a:r>
          </a:p>
          <a:p>
            <a:pPr>
              <a:defRPr sz="270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270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การสอบเทียบ ความหน่วง ต้นทุนจริง และการตัดไฟกลาง OTA</a:t>
            </a:r>
          </a:p>
        </p:txBody>
      </p:sp>
    </p:spTree>
    <p:extLst>
      <p:ext uri="{BB962C8B-B14F-4D97-AF65-F5344CB8AC3E}">
        <p14:creationId xmlns:p14="http://schemas.microsoft.com/office/powerpoint/2010/main" val="13156947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3D7CC4D8-EF3C-4DE3-A8A4-12EB29C84094}"/>
              </a:ext>
            </a:extLst>
          </p:cNvPr>
          <p:cNvSpPr>
            <a:spLocks noGrp="1"/>
          </p:cNvSpPr>
          <p:nvPr/>
        </p:nvSpPr>
        <p:spPr>
          <a:xfrm>
            <a:off x="857250" y="476250"/>
            <a:ext cx="165735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pPr>
            <a:r>
              <a: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rPr>
              <a:t>เอกสารและสื่อประกอบ</a:t>
            </a:r>
          </a:p>
        </p:txBody>
      </p:sp>
      <p:sp>
        <p:nvSpPr>
          <p:cNvPr id="2" name="footer">
            <a:extLst>
              <a:ext uri="{FF2B5EF4-FFF2-40B4-BE49-F238E27FC236}">
                <a16:creationId xmlns:a16="http://schemas.microsoft.com/office/drawing/2014/main" id="{049F8593-1F07-479F-A9C9-3097CC82427C}"/>
              </a:ext>
            </a:extLst>
          </p:cNvPr>
          <p:cNvSpPr>
            <a:spLocks noGrp="1"/>
          </p:cNvSpPr>
          <p:nvPr/>
        </p:nvSpPr>
        <p:spPr>
          <a:xfrm>
            <a:off x="857250" y="9677400"/>
            <a:ext cx="14763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KU Watch   Final presentation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097CF95A-3602-42E2-82C6-3984BF49347A}"/>
              </a:ext>
            </a:extLst>
          </p:cNvPr>
          <p:cNvSpPr>
            <a:spLocks noGrp="1"/>
          </p:cNvSpPr>
          <p:nvPr/>
        </p:nvSpPr>
        <p:spPr>
          <a:xfrm>
            <a:off x="16764000" y="9677400"/>
            <a:ext cx="762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20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CDB6E25D-3266-4A6C-BD1A-492B8B514ED7}"/>
              </a:ext>
            </a:extLst>
          </p:cNvPr>
          <p:cNvSpPr>
            <a:spLocks noGrp="1"/>
          </p:cNvSpPr>
          <p:nvPr/>
        </p:nvSpPr>
        <p:spPr>
          <a:xfrm>
            <a:off x="857250" y="2381250"/>
            <a:ext cx="16573500" cy="3619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2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32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32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32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32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32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32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32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32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32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32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pPr>
            <a:r>
              <a:rPr sz="32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rPr>
              <a:t>Requirements Plan V2 และเช็กลิสต์ผลตรวจล่าสุด</a:t>
            </a:r>
          </a:p>
          <a:p>
            <a:pPr>
              <a:defRPr sz="32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pPr>
            <a:r>
              <a:rPr sz="32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rPr>
              <a:t>วิดีโอสาธิตรวม 6 นาที และคลิปต้นฉบับ 9 คลิป</a:t>
            </a:r>
          </a:p>
          <a:p>
            <a:pPr>
              <a:defRPr sz="32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pPr>
            <a:r>
              <a:rPr sz="32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rPr>
              <a:t>หน้ารวมหลักฐาน FR-01 ถึง FR-08</a:t>
            </a:r>
          </a:p>
          <a:p>
            <a:pPr>
              <a:defRPr sz="32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defRPr>
            </a:pPr>
            <a:r>
              <a:rPr sz="3225" b="0">
                <a:solidFill>
                  <a:srgbClr val="25343F"/>
                </a:solidFill>
                <a:latin typeface="Leelawadee UI"/>
                <a:ea typeface="Leelawadee UI"/>
                <a:cs typeface="Leelawadee UI"/>
              </a:rPr>
              <a:t>ภาพพัฒนาการ ภาพระบบ และแบบประกอบ Rev A</a:t>
            </a:r>
          </a:p>
        </p:txBody>
      </p:sp>
      <p:sp>
        <p:nvSpPr>
          <p:cNvPr id="5" name="body">
            <a:extLst>
              <a:ext uri="{FF2B5EF4-FFF2-40B4-BE49-F238E27FC236}">
                <a16:creationId xmlns:a16="http://schemas.microsoft.com/office/drawing/2014/main" id="{D02FDD66-F993-4C7F-99CA-0D0933BF64C2}"/>
              </a:ext>
            </a:extLst>
          </p:cNvPr>
          <p:cNvSpPr>
            <a:spLocks noGrp="1"/>
          </p:cNvSpPr>
          <p:nvPr/>
        </p:nvSpPr>
        <p:spPr>
          <a:xfrm>
            <a:off x="857250" y="7524750"/>
            <a:ext cx="16573500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5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5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5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5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5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5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5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5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5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25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เปิดไฟล์ START_HERE.html หลังแตก ZIP</a:t>
            </a:r>
          </a:p>
          <a:p>
            <a:pPr>
              <a:defRPr sz="25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25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Repository: github.com/SSRobotic/ku-watch (private)</a:t>
            </a:r>
          </a:p>
        </p:txBody>
      </p:sp>
    </p:spTree>
    <p:extLst>
      <p:ext uri="{BB962C8B-B14F-4D97-AF65-F5344CB8AC3E}">
        <p14:creationId xmlns:p14="http://schemas.microsoft.com/office/powerpoint/2010/main" val="14627755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AA015A36-7471-4BFD-8336-602669699AC5}"/>
              </a:ext>
            </a:extLst>
          </p:cNvPr>
          <p:cNvSpPr>
            <a:spLocks noGrp="1"/>
          </p:cNvSpPr>
          <p:nvPr/>
        </p:nvSpPr>
        <p:spPr>
          <a:xfrm>
            <a:off x="857250" y="476250"/>
            <a:ext cx="165735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pPr>
            <a:r>
              <a: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rPr>
              <a:t>ปัญหาจอและปุ่มระหว่างประกอบ</a:t>
            </a:r>
          </a:p>
        </p:txBody>
      </p:sp>
      <p:sp>
        <p:nvSpPr>
          <p:cNvPr id="2" name="footer">
            <a:extLst>
              <a:ext uri="{FF2B5EF4-FFF2-40B4-BE49-F238E27FC236}">
                <a16:creationId xmlns:a16="http://schemas.microsoft.com/office/drawing/2014/main" id="{9D759F3D-4D0B-4167-8C2B-D48380D5C495}"/>
              </a:ext>
            </a:extLst>
          </p:cNvPr>
          <p:cNvSpPr>
            <a:spLocks noGrp="1"/>
          </p:cNvSpPr>
          <p:nvPr/>
        </p:nvSpPr>
        <p:spPr>
          <a:xfrm>
            <a:off x="857250" y="9677400"/>
            <a:ext cx="14763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KU Watch   ภาคผนวกภาพพัฒนาการและหลักฐาน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B474668E-DEC1-4D4E-A447-532DD3DED95D}"/>
              </a:ext>
            </a:extLst>
          </p:cNvPr>
          <p:cNvSpPr>
            <a:spLocks noGrp="1"/>
          </p:cNvSpPr>
          <p:nvPr/>
        </p:nvSpPr>
        <p:spPr>
          <a:xfrm>
            <a:off x="16764000" y="9677400"/>
            <a:ext cx="762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21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0E4C86-503D-4E60-8904-518E0ACE28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" y="2075356"/>
            <a:ext cx="8120063" cy="60886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115783-1E7D-4D68-AC9B-913F4C45E9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310688" y="2075356"/>
            <a:ext cx="8120063" cy="6088663"/>
          </a:xfrm>
          <a:prstGeom prst="rect">
            <a:avLst/>
          </a:prstGeom>
        </p:spPr>
      </p:pic>
      <p:sp>
        <p:nvSpPr>
          <p:cNvPr id="6" name="caption">
            <a:extLst>
              <a:ext uri="{FF2B5EF4-FFF2-40B4-BE49-F238E27FC236}">
                <a16:creationId xmlns:a16="http://schemas.microsoft.com/office/drawing/2014/main" id="{3801F443-723E-4FD7-AA08-16DBBFA3E9E4}"/>
              </a:ext>
            </a:extLst>
          </p:cNvPr>
          <p:cNvSpPr>
            <a:spLocks noGrp="1"/>
          </p:cNvSpPr>
          <p:nvPr/>
        </p:nvSpPr>
        <p:spPr>
          <a:xfrm>
            <a:off x="857250" y="8915400"/>
            <a:ext cx="16573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ภาพปัญหาระหว่างพัฒนา ใช้อธิบายการตรวจสายและการเข้าถึงปุ่ม</a:t>
            </a:r>
          </a:p>
        </p:txBody>
      </p:sp>
    </p:spTree>
    <p:extLst>
      <p:ext uri="{BB962C8B-B14F-4D97-AF65-F5344CB8AC3E}">
        <p14:creationId xmlns:p14="http://schemas.microsoft.com/office/powerpoint/2010/main" val="16528962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1C4DADCB-9CB1-4F41-88FA-1A529E8265B7}"/>
              </a:ext>
            </a:extLst>
          </p:cNvPr>
          <p:cNvSpPr>
            <a:spLocks noGrp="1"/>
          </p:cNvSpPr>
          <p:nvPr/>
        </p:nvSpPr>
        <p:spPr>
          <a:xfrm>
            <a:off x="857250" y="476250"/>
            <a:ext cx="165735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pPr>
            <a:r>
              <a: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rPr>
              <a:t>ช่องสายและความพอดีของตัวเรือน</a:t>
            </a:r>
          </a:p>
        </p:txBody>
      </p:sp>
      <p:sp>
        <p:nvSpPr>
          <p:cNvPr id="2" name="footer">
            <a:extLst>
              <a:ext uri="{FF2B5EF4-FFF2-40B4-BE49-F238E27FC236}">
                <a16:creationId xmlns:a16="http://schemas.microsoft.com/office/drawing/2014/main" id="{031E8F91-EEC5-4CB3-94A8-DA89D8D74F8A}"/>
              </a:ext>
            </a:extLst>
          </p:cNvPr>
          <p:cNvSpPr>
            <a:spLocks noGrp="1"/>
          </p:cNvSpPr>
          <p:nvPr/>
        </p:nvSpPr>
        <p:spPr>
          <a:xfrm>
            <a:off x="857250" y="9677400"/>
            <a:ext cx="14763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KU Watch   ภาคผนวกภาพพัฒนาการและหลักฐาน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0EA2CFA1-4C66-495C-839E-3EAF624923F6}"/>
              </a:ext>
            </a:extLst>
          </p:cNvPr>
          <p:cNvSpPr>
            <a:spLocks noGrp="1"/>
          </p:cNvSpPr>
          <p:nvPr/>
        </p:nvSpPr>
        <p:spPr>
          <a:xfrm>
            <a:off x="16764000" y="9677400"/>
            <a:ext cx="762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22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4EE5E2-32D8-4A3F-8222-797247E8E6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61641" y="1857375"/>
            <a:ext cx="4893469" cy="65246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A4D2EC-1F36-4818-811A-6B90B1ED86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697266" y="1857375"/>
            <a:ext cx="4893469" cy="65246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6CA5D40-69A1-4775-814F-7B93CEB2DB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2332891" y="1857375"/>
            <a:ext cx="4893469" cy="6524625"/>
          </a:xfrm>
          <a:prstGeom prst="rect">
            <a:avLst/>
          </a:prstGeom>
        </p:spPr>
      </p:pic>
      <p:sp>
        <p:nvSpPr>
          <p:cNvPr id="7" name="caption">
            <a:extLst>
              <a:ext uri="{FF2B5EF4-FFF2-40B4-BE49-F238E27FC236}">
                <a16:creationId xmlns:a16="http://schemas.microsoft.com/office/drawing/2014/main" id="{C6717195-7F62-4CEF-970E-994DF1683160}"/>
              </a:ext>
            </a:extLst>
          </p:cNvPr>
          <p:cNvSpPr>
            <a:spLocks noGrp="1"/>
          </p:cNvSpPr>
          <p:nvPr/>
        </p:nvSpPr>
        <p:spPr>
          <a:xfrm>
            <a:off x="857250" y="8915400"/>
            <a:ext cx="16573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ตรวจช่อง USB ร่องสาย และการเสียบใช้งานก่อนประกอบขั้นสุดท้าย</a:t>
            </a:r>
          </a:p>
        </p:txBody>
      </p:sp>
    </p:spTree>
    <p:extLst>
      <p:ext uri="{BB962C8B-B14F-4D97-AF65-F5344CB8AC3E}">
        <p14:creationId xmlns:p14="http://schemas.microsoft.com/office/powerpoint/2010/main" val="6369592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19EE475A-705C-439E-91CB-4B5548CDDB2A}"/>
              </a:ext>
            </a:extLst>
          </p:cNvPr>
          <p:cNvSpPr>
            <a:spLocks noGrp="1"/>
          </p:cNvSpPr>
          <p:nvPr/>
        </p:nvSpPr>
        <p:spPr>
          <a:xfrm>
            <a:off x="857250" y="476250"/>
            <a:ext cx="165735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pPr>
            <a:r>
              <a: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rPr>
              <a:t>การติดตั้งบอร์ดจอใหญ่</a:t>
            </a:r>
          </a:p>
        </p:txBody>
      </p:sp>
      <p:sp>
        <p:nvSpPr>
          <p:cNvPr id="2" name="footer">
            <a:extLst>
              <a:ext uri="{FF2B5EF4-FFF2-40B4-BE49-F238E27FC236}">
                <a16:creationId xmlns:a16="http://schemas.microsoft.com/office/drawing/2014/main" id="{9963D946-33FC-4364-AB1E-4841B1BFD6BD}"/>
              </a:ext>
            </a:extLst>
          </p:cNvPr>
          <p:cNvSpPr>
            <a:spLocks noGrp="1"/>
          </p:cNvSpPr>
          <p:nvPr/>
        </p:nvSpPr>
        <p:spPr>
          <a:xfrm>
            <a:off x="857250" y="9677400"/>
            <a:ext cx="14763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KU Watch   ภาคผนวกภาพพัฒนาการและหลักฐาน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A3DAE20E-F7F1-43D3-94DD-38F09A681D82}"/>
              </a:ext>
            </a:extLst>
          </p:cNvPr>
          <p:cNvSpPr>
            <a:spLocks noGrp="1"/>
          </p:cNvSpPr>
          <p:nvPr/>
        </p:nvSpPr>
        <p:spPr>
          <a:xfrm>
            <a:off x="16764000" y="9677400"/>
            <a:ext cx="762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23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1ACEBB-C18A-4138-88E3-CB7609542F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70547" y="1857375"/>
            <a:ext cx="4893469" cy="65246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26F7619-0BA8-4749-8FC7-0FE0C69CC6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923984" y="1857375"/>
            <a:ext cx="4893469" cy="6524625"/>
          </a:xfrm>
          <a:prstGeom prst="rect">
            <a:avLst/>
          </a:prstGeom>
        </p:spPr>
      </p:pic>
      <p:sp>
        <p:nvSpPr>
          <p:cNvPr id="6" name="caption">
            <a:extLst>
              <a:ext uri="{FF2B5EF4-FFF2-40B4-BE49-F238E27FC236}">
                <a16:creationId xmlns:a16="http://schemas.microsoft.com/office/drawing/2014/main" id="{1AC47065-8CF1-417A-8247-E0AC85C71ACD}"/>
              </a:ext>
            </a:extLst>
          </p:cNvPr>
          <p:cNvSpPr>
            <a:spLocks noGrp="1"/>
          </p:cNvSpPr>
          <p:nvPr/>
        </p:nvSpPr>
        <p:spPr>
          <a:xfrm>
            <a:off x="857250" y="8915400"/>
            <a:ext cx="16573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จัดวางบอร์ดและตรวจระยะตัวเรือน ภาพเก็บไว้ระหว่างประกอบ</a:t>
            </a:r>
          </a:p>
        </p:txBody>
      </p:sp>
    </p:spTree>
    <p:extLst>
      <p:ext uri="{BB962C8B-B14F-4D97-AF65-F5344CB8AC3E}">
        <p14:creationId xmlns:p14="http://schemas.microsoft.com/office/powerpoint/2010/main" val="15055795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>
            <a:extLst>
              <a:ext uri="{FF2B5EF4-FFF2-40B4-BE49-F238E27FC236}">
                <a16:creationId xmlns:a16="http://schemas.microsoft.com/office/drawing/2014/main" id="{18319D5F-5962-4FD6-A741-69634B45C3C6}"/>
              </a:ext>
            </a:extLst>
          </p:cNvPr>
          <p:cNvSpPr>
            <a:spLocks noGrp="1"/>
          </p:cNvSpPr>
          <p:nvPr/>
        </p:nvSpPr>
        <p:spPr>
          <a:xfrm>
            <a:off x="857250" y="476250"/>
            <a:ext cx="165735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pPr>
            <a:r>
              <a: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rPr>
              <a:t>การตรวจสายและค่าบนจอ</a:t>
            </a:r>
          </a:p>
        </p:txBody>
      </p:sp>
      <p:sp>
        <p:nvSpPr>
          <p:cNvPr id="2" name="footer">
            <a:extLst>
              <a:ext uri="{FF2B5EF4-FFF2-40B4-BE49-F238E27FC236}">
                <a16:creationId xmlns:a16="http://schemas.microsoft.com/office/drawing/2014/main" id="{62749207-0868-4C4F-99ED-7AE038BD13A0}"/>
              </a:ext>
            </a:extLst>
          </p:cNvPr>
          <p:cNvSpPr>
            <a:spLocks noGrp="1"/>
          </p:cNvSpPr>
          <p:nvPr/>
        </p:nvSpPr>
        <p:spPr>
          <a:xfrm>
            <a:off x="857250" y="9677400"/>
            <a:ext cx="14763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KU Watch   ภาคผนวกภาพพัฒนาการและหลักฐาน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3FF4C8E8-7DF4-42BE-9DB8-47429AF7FEC9}"/>
              </a:ext>
            </a:extLst>
          </p:cNvPr>
          <p:cNvSpPr>
            <a:spLocks noGrp="1"/>
          </p:cNvSpPr>
          <p:nvPr/>
        </p:nvSpPr>
        <p:spPr>
          <a:xfrm>
            <a:off x="16764000" y="9677400"/>
            <a:ext cx="762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24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D7AF74-E792-4561-813B-D110BD873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" y="2524125"/>
            <a:ext cx="3893344" cy="51911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3DD1279-D6AC-4B08-925D-7B24D447F6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083969" y="2524125"/>
            <a:ext cx="3893344" cy="51911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50CE1A9-021C-45DB-96F4-748061E192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310688" y="2524125"/>
            <a:ext cx="3893344" cy="51911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BB97DD-924F-4F17-9148-1871EFCEB2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3537406" y="3660015"/>
            <a:ext cx="3893344" cy="2919344"/>
          </a:xfrm>
          <a:prstGeom prst="rect">
            <a:avLst/>
          </a:prstGeom>
        </p:spPr>
      </p:pic>
      <p:sp>
        <p:nvSpPr>
          <p:cNvPr id="8" name="caption">
            <a:extLst>
              <a:ext uri="{FF2B5EF4-FFF2-40B4-BE49-F238E27FC236}">
                <a16:creationId xmlns:a16="http://schemas.microsoft.com/office/drawing/2014/main" id="{F175412E-1880-43D3-9A73-13CCF905DA3F}"/>
              </a:ext>
            </a:extLst>
          </p:cNvPr>
          <p:cNvSpPr>
            <a:spLocks noGrp="1"/>
          </p:cNvSpPr>
          <p:nvPr/>
        </p:nvSpPr>
        <p:spPr>
          <a:xfrm>
            <a:off x="857250" y="8915400"/>
            <a:ext cx="16573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ภาพหลายมุมของตัวสวมใส่และชุดสายที่ใช้ทดสอบ</a:t>
            </a:r>
          </a:p>
        </p:txBody>
      </p:sp>
    </p:spTree>
    <p:extLst>
      <p:ext uri="{BB962C8B-B14F-4D97-AF65-F5344CB8AC3E}">
        <p14:creationId xmlns:p14="http://schemas.microsoft.com/office/powerpoint/2010/main" val="6806865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831F24B9-FE46-4253-ADB2-D403F52BC4E1}"/>
              </a:ext>
            </a:extLst>
          </p:cNvPr>
          <p:cNvSpPr>
            <a:spLocks noGrp="1"/>
          </p:cNvSpPr>
          <p:nvPr/>
        </p:nvSpPr>
        <p:spPr>
          <a:xfrm>
            <a:off x="857250" y="476250"/>
            <a:ext cx="165735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pPr>
            <a:r>
              <a: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rPr>
              <a:t>การเชื่อมกับ Node-RED ระยะแรก</a:t>
            </a:r>
          </a:p>
        </p:txBody>
      </p:sp>
      <p:sp>
        <p:nvSpPr>
          <p:cNvPr id="2" name="footer">
            <a:extLst>
              <a:ext uri="{FF2B5EF4-FFF2-40B4-BE49-F238E27FC236}">
                <a16:creationId xmlns:a16="http://schemas.microsoft.com/office/drawing/2014/main" id="{17E65A9E-89BA-4E0B-A515-2A7A8DDF806A}"/>
              </a:ext>
            </a:extLst>
          </p:cNvPr>
          <p:cNvSpPr>
            <a:spLocks noGrp="1"/>
          </p:cNvSpPr>
          <p:nvPr/>
        </p:nvSpPr>
        <p:spPr>
          <a:xfrm>
            <a:off x="857250" y="9677400"/>
            <a:ext cx="14763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KU Watch   ภาคผนวกภาพพัฒนาการและหลักฐาน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C877A5AD-A965-480F-8B14-E480F3F16CA3}"/>
              </a:ext>
            </a:extLst>
          </p:cNvPr>
          <p:cNvSpPr>
            <a:spLocks noGrp="1"/>
          </p:cNvSpPr>
          <p:nvPr/>
        </p:nvSpPr>
        <p:spPr>
          <a:xfrm>
            <a:off x="16764000" y="9677400"/>
            <a:ext cx="762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25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290BBD-C6D4-47C2-824F-A7D951AB9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" y="2075356"/>
            <a:ext cx="8120063" cy="60886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79E45ED-5D46-47B1-A1DD-1566F2B660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310688" y="2949826"/>
            <a:ext cx="8120063" cy="4339722"/>
          </a:xfrm>
          <a:prstGeom prst="rect">
            <a:avLst/>
          </a:prstGeom>
        </p:spPr>
      </p:pic>
      <p:sp>
        <p:nvSpPr>
          <p:cNvPr id="6" name="caption">
            <a:extLst>
              <a:ext uri="{FF2B5EF4-FFF2-40B4-BE49-F238E27FC236}">
                <a16:creationId xmlns:a16="http://schemas.microsoft.com/office/drawing/2014/main" id="{A9BA24AF-62D9-4D2D-9654-BFFA40FF2CF6}"/>
              </a:ext>
            </a:extLst>
          </p:cNvPr>
          <p:cNvSpPr>
            <a:spLocks noGrp="1"/>
          </p:cNvSpPr>
          <p:nvPr/>
        </p:nvSpPr>
        <p:spPr>
          <a:xfrm>
            <a:off x="857250" y="8915400"/>
            <a:ext cx="16573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แสดงความคืบหน้าจากข้อมูลบนตัวเครื่องไปถึง flow และ dashboard</a:t>
            </a:r>
          </a:p>
        </p:txBody>
      </p:sp>
    </p:spTree>
    <p:extLst>
      <p:ext uri="{BB962C8B-B14F-4D97-AF65-F5344CB8AC3E}">
        <p14:creationId xmlns:p14="http://schemas.microsoft.com/office/powerpoint/2010/main" val="2885987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1D1AD678-313D-4655-8FE0-726351FAF5C7}"/>
              </a:ext>
            </a:extLst>
          </p:cNvPr>
          <p:cNvSpPr>
            <a:spLocks noGrp="1"/>
          </p:cNvSpPr>
          <p:nvPr/>
        </p:nvSpPr>
        <p:spPr>
          <a:xfrm>
            <a:off x="857250" y="476250"/>
            <a:ext cx="165735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pPr>
            <a:r>
              <a: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rPr>
              <a:t>แบบประกอบตัวเรือน Rev A</a:t>
            </a:r>
          </a:p>
        </p:txBody>
      </p:sp>
      <p:sp>
        <p:nvSpPr>
          <p:cNvPr id="2" name="footer">
            <a:extLst>
              <a:ext uri="{FF2B5EF4-FFF2-40B4-BE49-F238E27FC236}">
                <a16:creationId xmlns:a16="http://schemas.microsoft.com/office/drawing/2014/main" id="{09AFDD8B-0880-4DB8-A09F-D9D1A2ECDC7C}"/>
              </a:ext>
            </a:extLst>
          </p:cNvPr>
          <p:cNvSpPr>
            <a:spLocks noGrp="1"/>
          </p:cNvSpPr>
          <p:nvPr/>
        </p:nvSpPr>
        <p:spPr>
          <a:xfrm>
            <a:off x="857250" y="9677400"/>
            <a:ext cx="14763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KU Watch   ภาคผนวกภาพพัฒนาการและหลักฐาน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269FB3F7-F0EF-4DA9-82DD-C1A14DEBB276}"/>
              </a:ext>
            </a:extLst>
          </p:cNvPr>
          <p:cNvSpPr>
            <a:spLocks noGrp="1"/>
          </p:cNvSpPr>
          <p:nvPr/>
        </p:nvSpPr>
        <p:spPr>
          <a:xfrm>
            <a:off x="16764000" y="9677400"/>
            <a:ext cx="762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EF4CD1-D7AC-4E33-B6E2-CF6ADE011F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31383" y="1857375"/>
            <a:ext cx="9225233" cy="6524625"/>
          </a:xfrm>
          <a:prstGeom prst="rect">
            <a:avLst/>
          </a:prstGeom>
        </p:spPr>
      </p:pic>
      <p:sp>
        <p:nvSpPr>
          <p:cNvPr id="5" name="caption">
            <a:extLst>
              <a:ext uri="{FF2B5EF4-FFF2-40B4-BE49-F238E27FC236}">
                <a16:creationId xmlns:a16="http://schemas.microsoft.com/office/drawing/2014/main" id="{E178BECC-7566-4A30-B365-5484ABA778BE}"/>
              </a:ext>
            </a:extLst>
          </p:cNvPr>
          <p:cNvSpPr>
            <a:spLocks noGrp="1"/>
          </p:cNvSpPr>
          <p:nvPr/>
        </p:nvSpPr>
        <p:spPr>
          <a:xfrm>
            <a:off x="857250" y="8915400"/>
            <a:ext cx="16573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เอกสารช่วงออกแบบ 16 ก.ย. 2026 มีหมายเหตุรุ่นโมเดลและส่วนที่ต้องปรับ</a:t>
            </a:r>
          </a:p>
        </p:txBody>
      </p:sp>
    </p:spTree>
    <p:extLst>
      <p:ext uri="{BB962C8B-B14F-4D97-AF65-F5344CB8AC3E}">
        <p14:creationId xmlns:p14="http://schemas.microsoft.com/office/powerpoint/2010/main" val="12243706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D8655CBD-FA1B-48C5-B4A9-99C3EF462D70}"/>
              </a:ext>
            </a:extLst>
          </p:cNvPr>
          <p:cNvSpPr>
            <a:spLocks noGrp="1"/>
          </p:cNvSpPr>
          <p:nvPr/>
        </p:nvSpPr>
        <p:spPr>
          <a:xfrm>
            <a:off x="857250" y="476250"/>
            <a:ext cx="165735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pPr>
            <a:r>
              <a: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rPr>
              <a:t>แบบเชื่อมต่อวงจร Rev A</a:t>
            </a:r>
          </a:p>
        </p:txBody>
      </p:sp>
      <p:sp>
        <p:nvSpPr>
          <p:cNvPr id="2" name="footer">
            <a:extLst>
              <a:ext uri="{FF2B5EF4-FFF2-40B4-BE49-F238E27FC236}">
                <a16:creationId xmlns:a16="http://schemas.microsoft.com/office/drawing/2014/main" id="{67C8668A-F609-4CD6-936C-F761633A427F}"/>
              </a:ext>
            </a:extLst>
          </p:cNvPr>
          <p:cNvSpPr>
            <a:spLocks noGrp="1"/>
          </p:cNvSpPr>
          <p:nvPr/>
        </p:nvSpPr>
        <p:spPr>
          <a:xfrm>
            <a:off x="857250" y="9677400"/>
            <a:ext cx="14763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KU Watch   ภาคผนวกภาพพัฒนาการและหลักฐาน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008E6E46-3702-48EE-A292-C87A5964C38A}"/>
              </a:ext>
            </a:extLst>
          </p:cNvPr>
          <p:cNvSpPr>
            <a:spLocks noGrp="1"/>
          </p:cNvSpPr>
          <p:nvPr/>
        </p:nvSpPr>
        <p:spPr>
          <a:xfrm>
            <a:off x="16764000" y="9677400"/>
            <a:ext cx="762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27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2FABEF-6ED8-4D00-B17E-26567DD554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31383" y="1857375"/>
            <a:ext cx="9225233" cy="6524625"/>
          </a:xfrm>
          <a:prstGeom prst="rect">
            <a:avLst/>
          </a:prstGeom>
        </p:spPr>
      </p:pic>
      <p:sp>
        <p:nvSpPr>
          <p:cNvPr id="5" name="caption">
            <a:extLst>
              <a:ext uri="{FF2B5EF4-FFF2-40B4-BE49-F238E27FC236}">
                <a16:creationId xmlns:a16="http://schemas.microsoft.com/office/drawing/2014/main" id="{0AF9FFB1-D704-4B63-A53F-EF65C6DF3602}"/>
              </a:ext>
            </a:extLst>
          </p:cNvPr>
          <p:cNvSpPr>
            <a:spLocks noGrp="1"/>
          </p:cNvSpPr>
          <p:nvPr/>
        </p:nvSpPr>
        <p:spPr>
          <a:xfrm>
            <a:off x="857250" y="8915400"/>
            <a:ext cx="16573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แบบร่างการเชื่อมต่อ 16 ก.ย. 2026 หมายเหตุ planned ในแบบเป็นสถานะของวันนั้น</a:t>
            </a:r>
          </a:p>
        </p:txBody>
      </p:sp>
    </p:spTree>
    <p:extLst>
      <p:ext uri="{BB962C8B-B14F-4D97-AF65-F5344CB8AC3E}">
        <p14:creationId xmlns:p14="http://schemas.microsoft.com/office/powerpoint/2010/main" val="18496246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935134A5-9CE6-464C-AE58-B09733BC887C}"/>
              </a:ext>
            </a:extLst>
          </p:cNvPr>
          <p:cNvSpPr>
            <a:spLocks noGrp="1"/>
          </p:cNvSpPr>
          <p:nvPr/>
        </p:nvSpPr>
        <p:spPr>
          <a:xfrm>
            <a:off x="857250" y="476250"/>
            <a:ext cx="165735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pPr>
            <a:r>
              <a: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rPr>
              <a:t>บอร์ดควบคุมและหน้าตรวจอุปกรณ์</a:t>
            </a:r>
          </a:p>
        </p:txBody>
      </p:sp>
      <p:sp>
        <p:nvSpPr>
          <p:cNvPr id="2" name="footer">
            <a:extLst>
              <a:ext uri="{FF2B5EF4-FFF2-40B4-BE49-F238E27FC236}">
                <a16:creationId xmlns:a16="http://schemas.microsoft.com/office/drawing/2014/main" id="{E9C17F3E-65FB-41A8-B25F-882B28CAF517}"/>
              </a:ext>
            </a:extLst>
          </p:cNvPr>
          <p:cNvSpPr>
            <a:spLocks noGrp="1"/>
          </p:cNvSpPr>
          <p:nvPr/>
        </p:nvSpPr>
        <p:spPr>
          <a:xfrm>
            <a:off x="857250" y="9677400"/>
            <a:ext cx="14763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KU Watch   ภาคผนวกภาพพัฒนาการและหลักฐาน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9A3761C1-CEEB-4D65-8FBD-625C82DCABDF}"/>
              </a:ext>
            </a:extLst>
          </p:cNvPr>
          <p:cNvSpPr>
            <a:spLocks noGrp="1"/>
          </p:cNvSpPr>
          <p:nvPr/>
        </p:nvSpPr>
        <p:spPr>
          <a:xfrm>
            <a:off x="16764000" y="9677400"/>
            <a:ext cx="762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28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61E08F-6136-4474-9DBB-191C92F82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70547" y="1857375"/>
            <a:ext cx="4893469" cy="65246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BEF1231-4FCF-4695-8B4E-261DF3E1EB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310688" y="2834792"/>
            <a:ext cx="8120063" cy="4569791"/>
          </a:xfrm>
          <a:prstGeom prst="rect">
            <a:avLst/>
          </a:prstGeom>
        </p:spPr>
      </p:pic>
      <p:sp>
        <p:nvSpPr>
          <p:cNvPr id="6" name="caption">
            <a:extLst>
              <a:ext uri="{FF2B5EF4-FFF2-40B4-BE49-F238E27FC236}">
                <a16:creationId xmlns:a16="http://schemas.microsoft.com/office/drawing/2014/main" id="{FBEF5B46-0839-46E7-B3E2-5B4FCC0EDC84}"/>
              </a:ext>
            </a:extLst>
          </p:cNvPr>
          <p:cNvSpPr>
            <a:spLocks noGrp="1"/>
          </p:cNvSpPr>
          <p:nvPr/>
        </p:nvSpPr>
        <p:spPr>
          <a:xfrm>
            <a:off x="857250" y="8915400"/>
            <a:ext cx="16573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20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บอร์ด ESP32-S3 Super Mini และการตรวจโมดูลจากตัวเครื่องจริง</a:t>
            </a:r>
          </a:p>
        </p:txBody>
      </p:sp>
    </p:spTree>
    <p:extLst>
      <p:ext uri="{BB962C8B-B14F-4D97-AF65-F5344CB8AC3E}">
        <p14:creationId xmlns:p14="http://schemas.microsoft.com/office/powerpoint/2010/main" val="6305313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7B1C4194-8897-4EA1-9BDA-8E40DF7A9A51}"/>
              </a:ext>
            </a:extLst>
          </p:cNvPr>
          <p:cNvSpPr>
            <a:spLocks noGrp="1"/>
          </p:cNvSpPr>
          <p:nvPr/>
        </p:nvSpPr>
        <p:spPr>
          <a:xfrm>
            <a:off x="857250" y="476250"/>
            <a:ext cx="165735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pPr>
            <a:r>
              <a:rPr sz="4200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rPr>
              <a:t>เปิดหลักฐานประกอบการตอบคำถาม</a:t>
            </a:r>
          </a:p>
        </p:txBody>
      </p:sp>
      <p:sp>
        <p:nvSpPr>
          <p:cNvPr id="2" name="footer">
            <a:extLst>
              <a:ext uri="{FF2B5EF4-FFF2-40B4-BE49-F238E27FC236}">
                <a16:creationId xmlns:a16="http://schemas.microsoft.com/office/drawing/2014/main" id="{D614742D-563E-4034-8C13-812ACA5651D9}"/>
              </a:ext>
            </a:extLst>
          </p:cNvPr>
          <p:cNvSpPr>
            <a:spLocks noGrp="1"/>
          </p:cNvSpPr>
          <p:nvPr/>
        </p:nvSpPr>
        <p:spPr>
          <a:xfrm>
            <a:off x="857250" y="9677400"/>
            <a:ext cx="14763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16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KU Watch   ภาคผนวกภาพพัฒนาการและหลักฐาน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3A05DE26-2EAD-45FD-B4E6-107B68B6D2AB}"/>
              </a:ext>
            </a:extLst>
          </p:cNvPr>
          <p:cNvSpPr>
            <a:spLocks noGrp="1"/>
          </p:cNvSpPr>
          <p:nvPr/>
        </p:nvSpPr>
        <p:spPr>
          <a:xfrm>
            <a:off x="16764000" y="9677400"/>
            <a:ext cx="762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1725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29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4D7C95C3-E560-4E80-85D1-486F3686F034}"/>
              </a:ext>
            </a:extLst>
          </p:cNvPr>
          <p:cNvSpPr>
            <a:spLocks noGrp="1"/>
          </p:cNvSpPr>
          <p:nvPr/>
        </p:nvSpPr>
        <p:spPr>
          <a:xfrm>
            <a:off x="857250" y="2476500"/>
            <a:ext cx="1657350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875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4875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4875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4875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4875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4875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4875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4875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4875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4875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4875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defRPr>
            </a:pPr>
            <a:r>
              <a:rPr sz="4875" b="1">
                <a:solidFill>
                  <a:srgbClr val="183A4D"/>
                </a:solidFill>
                <a:latin typeface="Leelawadee UI"/>
                <a:ea typeface="Leelawadee UI"/>
                <a:cs typeface="Leelawadee UI"/>
              </a:rPr>
              <a:t>FR-01 ถึง FR-08</a:t>
            </a:r>
          </a:p>
        </p:txBody>
      </p:sp>
      <p:sp>
        <p:nvSpPr>
          <p:cNvPr id="5" name="open-evidence">
            <a:extLst>
              <a:ext uri="{FF2B5EF4-FFF2-40B4-BE49-F238E27FC236}">
                <a16:creationId xmlns:a16="http://schemas.microsoft.com/office/drawing/2014/main" id="{5124F43F-D2A1-4DA7-9CC9-066E0AFA6548}"/>
              </a:ext>
            </a:extLst>
          </p:cNvPr>
          <p:cNvSpPr>
            <a:spLocks noGrp="1"/>
          </p:cNvSpPr>
          <p:nvPr/>
        </p:nvSpPr>
        <p:spPr>
          <a:xfrm>
            <a:off x="857250" y="4000500"/>
            <a:ext cx="1657350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600" b="1">
                <a:solidFill>
                  <a:srgbClr val="176E5B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3600" b="1">
                <a:solidFill>
                  <a:srgbClr val="176E5B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3600" b="1">
                <a:solidFill>
                  <a:srgbClr val="176E5B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3600" b="1">
                <a:solidFill>
                  <a:srgbClr val="176E5B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3600" b="1">
                <a:solidFill>
                  <a:srgbClr val="176E5B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3600" b="1">
                <a:solidFill>
                  <a:srgbClr val="176E5B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3600" b="1">
                <a:solidFill>
                  <a:srgbClr val="176E5B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3600" b="1">
                <a:solidFill>
                  <a:srgbClr val="176E5B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3600" b="1">
                <a:solidFill>
                  <a:srgbClr val="176E5B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3600" b="1">
                <a:solidFill>
                  <a:srgbClr val="176E5B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3600" b="1">
                <a:solidFill>
                  <a:srgbClr val="176E5B"/>
                </a:solidFill>
                <a:latin typeface="Leelawadee UI"/>
                <a:ea typeface="Leelawadee UI"/>
                <a:cs typeface="Leelawadee UI"/>
              </a:defRPr>
            </a:pPr>
            <a:r>
              <a:rPr sz="3600" b="1">
                <a:solidFill>
                  <a:srgbClr val="176E5B"/>
                </a:solidFill>
                <a:latin typeface="Leelawadee UI"/>
                <a:ea typeface="Leelawadee UI"/>
                <a:cs typeface="Leelawadee UI"/>
                <a:hlinkClick r:id="rId3"/>
              </a:rPr>
              <a:t>เปิดหน้ารวมหลักฐาน</a:t>
            </a:r>
          </a:p>
        </p:txBody>
      </p:sp>
      <p:sp>
        <p:nvSpPr>
          <p:cNvPr id="6" name="open-demo">
            <a:extLst>
              <a:ext uri="{FF2B5EF4-FFF2-40B4-BE49-F238E27FC236}">
                <a16:creationId xmlns:a16="http://schemas.microsoft.com/office/drawing/2014/main" id="{6DAD88B1-4BAF-4303-AF9D-2072312FD11B}"/>
              </a:ext>
            </a:extLst>
          </p:cNvPr>
          <p:cNvSpPr>
            <a:spLocks noGrp="1"/>
          </p:cNvSpPr>
          <p:nvPr/>
        </p:nvSpPr>
        <p:spPr>
          <a:xfrm>
            <a:off x="857250" y="5334000"/>
            <a:ext cx="1657350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600" b="1">
                <a:solidFill>
                  <a:srgbClr val="176E5B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3600" b="1">
                <a:solidFill>
                  <a:srgbClr val="176E5B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3600" b="1">
                <a:solidFill>
                  <a:srgbClr val="176E5B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3600" b="1">
                <a:solidFill>
                  <a:srgbClr val="176E5B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3600" b="1">
                <a:solidFill>
                  <a:srgbClr val="176E5B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3600" b="1">
                <a:solidFill>
                  <a:srgbClr val="176E5B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3600" b="1">
                <a:solidFill>
                  <a:srgbClr val="176E5B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3600" b="1">
                <a:solidFill>
                  <a:srgbClr val="176E5B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3600" b="1">
                <a:solidFill>
                  <a:srgbClr val="176E5B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3600" b="1">
                <a:solidFill>
                  <a:srgbClr val="176E5B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3600" b="1">
                <a:solidFill>
                  <a:srgbClr val="176E5B"/>
                </a:solidFill>
                <a:latin typeface="Leelawadee UI"/>
                <a:ea typeface="Leelawadee UI"/>
                <a:cs typeface="Leelawadee UI"/>
              </a:defRPr>
            </a:pPr>
            <a:r>
              <a:rPr sz="3600" b="1">
                <a:solidFill>
                  <a:srgbClr val="176E5B"/>
                </a:solidFill>
                <a:latin typeface="Leelawadee UI"/>
                <a:ea typeface="Leelawadee UI"/>
                <a:cs typeface="Leelawadee UI"/>
                <a:hlinkClick r:id="rId4"/>
              </a:rPr>
              <a:t>เปิดวิดีโอสาธิต 6 นาที</a:t>
            </a:r>
          </a:p>
        </p:txBody>
      </p:sp>
      <p:sp>
        <p:nvSpPr>
          <p:cNvPr id="7" name="body">
            <a:extLst>
              <a:ext uri="{FF2B5EF4-FFF2-40B4-BE49-F238E27FC236}">
                <a16:creationId xmlns:a16="http://schemas.microsoft.com/office/drawing/2014/main" id="{E71F778C-4FC2-4B6D-AF82-DAAFA22F3213}"/>
              </a:ext>
            </a:extLst>
          </p:cNvPr>
          <p:cNvSpPr>
            <a:spLocks noGrp="1"/>
          </p:cNvSpPr>
          <p:nvPr/>
        </p:nvSpPr>
        <p:spPr>
          <a:xfrm>
            <a:off x="857250" y="7239000"/>
            <a:ext cx="1657350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defPPr>
            <a:lvl1pPr>
              <a:defRPr sz="28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1pPr>
            <a:lvl2pPr>
              <a:defRPr sz="28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2pPr>
            <a:lvl3pPr>
              <a:defRPr sz="28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3pPr>
            <a:lvl4pPr>
              <a:defRPr sz="28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4pPr>
            <a:lvl5pPr>
              <a:defRPr sz="28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5pPr>
            <a:lvl6pPr>
              <a:defRPr sz="28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6pPr>
            <a:lvl7pPr>
              <a:defRPr sz="28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7pPr>
            <a:lvl8pPr>
              <a:defRPr sz="28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8pPr>
            <a:lvl9pPr>
              <a:defRPr sz="28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lvl9pPr>
          </a:lstStyle>
          <a:p>
            <a:pPr>
              <a:defRPr sz="28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28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ไฟล์ JSON, CSV, ภาพ และคลิปอยู่ในชุดเดียวกัน</a:t>
            </a:r>
          </a:p>
          <a:p>
            <a:pPr>
              <a:defRPr sz="28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defRPr>
            </a:pPr>
            <a:r>
              <a:rPr sz="2850" b="0">
                <a:solidFill>
                  <a:srgbClr val="657780"/>
                </a:solidFill>
                <a:latin typeface="Leelawadee UI"/>
                <a:ea typeface="Leelawadee UI"/>
                <a:cs typeface="Leelawadee UI"/>
              </a:rPr>
              <a:t>ภาพและคลิปใช้สัดส่วนเดิม เปิดขยายดูได้ครบ</a:t>
            </a:r>
          </a:p>
        </p:txBody>
      </p:sp>
    </p:spTree>
    <p:extLst>
      <p:ext uri="{BB962C8B-B14F-4D97-AF65-F5344CB8AC3E}">
        <p14:creationId xmlns:p14="http://schemas.microsoft.com/office/powerpoint/2010/main" val="108077493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3161</Words>
  <Application>Microsoft Office PowerPoint</Application>
  <DocSecurity>0</DocSecurity>
  <PresentationFormat>Custom</PresentationFormat>
  <Paragraphs>459</Paragraphs>
  <Slides>29</Slides>
  <Notes>29</Notes>
  <HiddenSlides>0</HiddenSlides>
  <MMClips>3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Aptos</vt:lpstr>
      <vt:lpstr>Leelawadee UI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 Watch Final Presentation</dc:title>
  <dc:creator>Sarunyaphat Santawong and Wichayut Inkaew</dc:creator>
  <cp:lastModifiedBy>Sarunyaphat Santawong</cp:lastModifiedBy>
  <cp:revision>2</cp:revision>
  <dcterms:created xsi:type="dcterms:W3CDTF">2026-10-20T10:20:40Z</dcterms:created>
  <dcterms:modified xsi:type="dcterms:W3CDTF">2026-10-20T10:35:14Z</dcterms:modified>
</cp:coreProperties>
</file>